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02920" y="2770615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157A6E"/>
                </a:solidFill>
                <a:latin typeface="Calibri"/>
                <a:ea typeface="Calibri"/>
                <a:cs typeface="Calibri"/>
                <a:sym typeface="Calibri"/>
              </a:rPr>
              <a:t>Live Flow Monitoring — Attack Like Detections</a:t>
            </a:r>
            <a:endParaRPr b="1" i="0" sz="2400" u="none" cap="none" strike="noStrike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31546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400"/>
              <a:buFont typeface="Calibri"/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Week 7 Progress Update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863840" y="1005840"/>
            <a:ext cx="3931920" cy="4114800"/>
          </a:xfrm>
          <a:prstGeom prst="rect">
            <a:avLst/>
          </a:prstGeom>
          <a:solidFill>
            <a:srgbClr val="F7F8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092440" y="123444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092440" y="14904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092440" y="21031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092440" y="23591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092440" y="29718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College 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092440" y="32278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Priyanka Mitra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8092440" y="384048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8092440" y="40965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6675120"/>
            <a:ext cx="12161400" cy="1830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0" y="6656832"/>
            <a:ext cx="1216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525" wrap="square" tIns="0">
            <a:noAutofit/>
          </a:bodyPr>
          <a:lstStyle/>
          <a:p>
            <a:pPr indent="457200" lvl="0" marL="9601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 Week 7 Update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0" y="-50"/>
            <a:ext cx="253200" cy="68580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51412" y="2148845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Behaviour Profiling</a:t>
            </a:r>
            <a:endParaRPr b="1" sz="40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28151" y="2665888"/>
            <a:ext cx="3858300" cy="270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0" y="109728"/>
            <a:ext cx="12161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525" wrap="square" tIns="0">
            <a:noAutofit/>
          </a:bodyPr>
          <a:lstStyle/>
          <a:p>
            <a:pPr indent="457200" lvl="0" marL="9601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 Week 7 Update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20654" y="533771"/>
            <a:ext cx="75900" cy="658500"/>
          </a:xfrm>
          <a:prstGeom prst="rect">
            <a:avLst/>
          </a:prstGeom>
          <a:solidFill>
            <a:srgbClr val="157A6E"/>
          </a:solidFill>
          <a:ln cap="flat" cmpd="sng" w="176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25" lIns="126625" spcFirstLastPara="1" rIns="126625" wrap="square" tIns="126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10621" y="470448"/>
            <a:ext cx="11651400" cy="7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3047"/>
              <a:buFont typeface="Calibri"/>
              <a:buNone/>
            </a:pPr>
            <a:r>
              <a:rPr b="1" i="0" lang="en-US" sz="3047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Week 8 — Attack Injection Approaches Overview</a:t>
            </a:r>
            <a:endParaRPr b="0" i="0" sz="30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61671" y="1369530"/>
            <a:ext cx="11398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3300" lIns="126625" spcFirstLastPara="1" rIns="126625" wrap="square" tIns="63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24"/>
              <a:buFont typeface="Calibri"/>
              <a:buNone/>
            </a:pPr>
            <a:r>
              <a:rPr b="0" i="0" lang="en-US" sz="172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approaches were tested to trigger Attack-Like labels on the Live Flow Monitor dashboard</a:t>
            </a:r>
            <a:endParaRPr b="0" i="0" sz="172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83976" y="1990188"/>
            <a:ext cx="3672600" cy="4305900"/>
          </a:xfrm>
          <a:prstGeom prst="rect">
            <a:avLst/>
          </a:prstGeom>
          <a:solidFill>
            <a:schemeClr val="lt1"/>
          </a:solidFill>
          <a:ln cap="flat" cmpd="sng" w="17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40717" rotWithShape="0" algn="bl" dir="8100000" dist="35179">
              <a:srgbClr val="000000">
                <a:alpha val="7843"/>
              </a:srgbClr>
            </a:outerShdw>
          </a:effectLst>
        </p:spPr>
        <p:txBody>
          <a:bodyPr anchorCtr="0" anchor="ctr" bIns="126625" lIns="126625" spcFirstLastPara="1" rIns="126625" wrap="square" tIns="126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83976" y="1990188"/>
            <a:ext cx="3672600" cy="75900"/>
          </a:xfrm>
          <a:prstGeom prst="rect">
            <a:avLst/>
          </a:prstGeom>
          <a:solidFill>
            <a:srgbClr val="666666"/>
          </a:solidFill>
          <a:ln cap="flat" cmpd="sng" w="176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25" lIns="126625" spcFirstLastPara="1" rIns="126625" wrap="square" tIns="126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10625" y="2180150"/>
            <a:ext cx="696300" cy="82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1"/>
              <a:buFont typeface="Calibri"/>
              <a:buNone/>
            </a:pPr>
            <a:r>
              <a:rPr b="1" i="0" lang="en-US" sz="190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9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10621" y="3003348"/>
            <a:ext cx="34197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1"/>
              <a:buFont typeface="Calibri"/>
              <a:buNone/>
            </a:pPr>
            <a:r>
              <a:rPr b="1" i="0" lang="en-US" sz="1901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CSV File Injection</a:t>
            </a:r>
            <a:endParaRPr b="0" i="0" sz="19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10621" y="3788547"/>
            <a:ext cx="3419700" cy="2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4"/>
              <a:buFont typeface="Calibri"/>
              <a:buNone/>
            </a:pPr>
            <a:r>
              <a:rPr b="0" i="0" lang="en-US" sz="195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Injected known attack flows directly into the real-time CSV file to present Attack-Like labels on the dashboard.</a:t>
            </a:r>
            <a:endParaRPr b="0" i="0" sz="195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209972" y="1990188"/>
            <a:ext cx="3672600" cy="4305900"/>
          </a:xfrm>
          <a:prstGeom prst="rect">
            <a:avLst/>
          </a:prstGeom>
          <a:solidFill>
            <a:schemeClr val="lt1"/>
          </a:solidFill>
          <a:ln cap="flat" cmpd="sng" w="176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40717" rotWithShape="0" algn="bl" dir="8100000" dist="35179">
              <a:srgbClr val="000000">
                <a:alpha val="7843"/>
              </a:srgbClr>
            </a:outerShdw>
          </a:effectLst>
        </p:spPr>
        <p:txBody>
          <a:bodyPr anchorCtr="0" anchor="ctr" bIns="126625" lIns="126625" spcFirstLastPara="1" rIns="126625" wrap="square" tIns="126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209972" y="1990188"/>
            <a:ext cx="3672600" cy="75900"/>
          </a:xfrm>
          <a:prstGeom prst="rect">
            <a:avLst/>
          </a:prstGeom>
          <a:solidFill>
            <a:srgbClr val="666666"/>
          </a:solidFill>
          <a:ln cap="flat" cmpd="sng" w="176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25" lIns="126625" spcFirstLastPara="1" rIns="126625" wrap="square" tIns="126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399949" y="2243606"/>
            <a:ext cx="6963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1"/>
              <a:buFont typeface="Calibri"/>
              <a:buNone/>
            </a:pPr>
            <a:r>
              <a:rPr b="1" i="0" lang="en-US" sz="190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9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336617" y="3003348"/>
            <a:ext cx="34197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1"/>
              <a:buFont typeface="Calibri"/>
              <a:buNone/>
            </a:pPr>
            <a:r>
              <a:rPr b="1" i="0" lang="en-US" sz="1901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Nmap Reconnaissance</a:t>
            </a:r>
            <a:endParaRPr b="0" i="0" sz="19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336617" y="3788547"/>
            <a:ext cx="3419700" cy="2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4"/>
              <a:buFont typeface="Calibri"/>
              <a:buNone/>
            </a:pPr>
            <a:r>
              <a:rPr b="0" i="0" lang="en-US" sz="195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Used Nmap security tool to perform port scanning and reconnaissance — captured as Suspicious / Attack-like flows.</a:t>
            </a:r>
            <a:endParaRPr b="0" i="0" sz="195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135967" y="1990188"/>
            <a:ext cx="3672600" cy="4305900"/>
          </a:xfrm>
          <a:prstGeom prst="rect">
            <a:avLst/>
          </a:prstGeom>
          <a:solidFill>
            <a:schemeClr val="lt1"/>
          </a:solidFill>
          <a:ln cap="flat" cmpd="sng" w="176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40717" rotWithShape="0" algn="bl" dir="8100000" dist="35179">
              <a:srgbClr val="000000">
                <a:alpha val="7843"/>
              </a:srgbClr>
            </a:outerShdw>
          </a:effectLst>
        </p:spPr>
        <p:txBody>
          <a:bodyPr anchorCtr="0" anchor="ctr" bIns="126625" lIns="126625" spcFirstLastPara="1" rIns="126625" wrap="square" tIns="126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35967" y="1990188"/>
            <a:ext cx="3672600" cy="75900"/>
          </a:xfrm>
          <a:prstGeom prst="rect">
            <a:avLst/>
          </a:prstGeom>
          <a:solidFill>
            <a:srgbClr val="666666"/>
          </a:solidFill>
          <a:ln cap="flat" cmpd="sng" w="176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625" lIns="126625" spcFirstLastPara="1" rIns="126625" wrap="square" tIns="126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334032" y="2243606"/>
            <a:ext cx="6963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1"/>
              <a:buFont typeface="Calibri"/>
              <a:buNone/>
            </a:pPr>
            <a:r>
              <a:rPr b="1" i="0" lang="en-US" sz="1901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901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262612" y="3003348"/>
            <a:ext cx="34197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801"/>
              <a:buFont typeface="Calibri"/>
              <a:buNone/>
            </a:pPr>
            <a:r>
              <a:rPr b="1" i="0" lang="en-US" sz="1901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hping3 on Linux VM</a:t>
            </a:r>
            <a:endParaRPr b="0" i="0" sz="190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262612" y="3788547"/>
            <a:ext cx="3419700" cy="2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4"/>
              <a:buFont typeface="Calibri"/>
              <a:buNone/>
            </a:pPr>
            <a:r>
              <a:rPr b="0" i="0" lang="en-US" sz="1954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 hping3 flood attacks from an Ubuntu VirtualBox VM targeting the Windows host IP — detected as Attack-Like.</a:t>
            </a:r>
            <a:endParaRPr b="0" i="0" sz="195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/>
          <p:nvPr/>
        </p:nvSpPr>
        <p:spPr>
          <a:xfrm>
            <a:off x="0" y="0"/>
            <a:ext cx="12161400" cy="109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0" y="109728"/>
            <a:ext cx="121614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65125" y="471716"/>
            <a:ext cx="68400" cy="592200"/>
          </a:xfrm>
          <a:prstGeom prst="rect">
            <a:avLst/>
          </a:prstGeom>
          <a:solidFill>
            <a:srgbClr val="157A6E"/>
          </a:solidFill>
          <a:ln cap="flat" cmpd="sng" w="15825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875" lIns="113875" spcFirstLastPara="1" rIns="113875" wrap="square" tIns="113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35951" y="414774"/>
            <a:ext cx="104775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740"/>
              <a:buFont typeface="Calibri"/>
              <a:buNone/>
            </a:pPr>
            <a:r>
              <a:rPr b="1" i="0" lang="en-US" sz="274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Approach 1 — CSV File Injection into Live Monitor</a:t>
            </a:r>
            <a:endParaRPr b="0" i="0" sz="27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33526" y="1234744"/>
            <a:ext cx="102495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6925" lIns="113875" spcFirstLastPara="1" rIns="113875" wrap="square" tIns="56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70"/>
              <a:buFont typeface="Calibri"/>
              <a:buNone/>
            </a:pPr>
            <a:r>
              <a:rPr b="0" i="0" lang="en-US" sz="167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Attack-like flows were manually injected into the real-time CSV file, immediately reflected on the dashboard.</a:t>
            </a:r>
            <a:endParaRPr b="0" i="0" sz="167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5" title="Screenshot 2026-04-21 09281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25" y="1712725"/>
            <a:ext cx="11639527" cy="47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0" y="6675120"/>
            <a:ext cx="12161400" cy="1830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6656832"/>
            <a:ext cx="1216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525" wrap="square" tIns="0">
            <a:noAutofit/>
          </a:bodyPr>
          <a:lstStyle/>
          <a:p>
            <a:pPr indent="457200" lvl="0" marL="9601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 Week 7 Update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12161400" cy="109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0" y="109728"/>
            <a:ext cx="121614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6" title="Screenshot 2026-04-21 150621.png"/>
          <p:cNvPicPr preferRelativeResize="0"/>
          <p:nvPr/>
        </p:nvPicPr>
        <p:blipFill rotWithShape="1">
          <a:blip r:embed="rId3">
            <a:alphaModFix/>
          </a:blip>
          <a:srcRect b="2347" l="4446" r="4080" t="9757"/>
          <a:stretch/>
        </p:blipFill>
        <p:spPr>
          <a:xfrm>
            <a:off x="255100" y="1248578"/>
            <a:ext cx="11385101" cy="517501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>
            <a:off x="255109" y="423750"/>
            <a:ext cx="68400" cy="591600"/>
          </a:xfrm>
          <a:prstGeom prst="rect">
            <a:avLst/>
          </a:prstGeom>
          <a:solidFill>
            <a:srgbClr val="157A6E"/>
          </a:solidFill>
          <a:ln cap="flat" cmpd="sng" w="15800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725" lIns="113725" spcFirstLastPara="1" rIns="113725" wrap="square" tIns="113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25720" y="377703"/>
            <a:ext cx="10464300" cy="6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737"/>
              <a:buFont typeface="Calibri"/>
              <a:buNone/>
            </a:pPr>
            <a:r>
              <a:rPr b="1" i="0" lang="en-US" sz="2737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Approach 2 — Nmap Reconnaissance Security tool</a:t>
            </a:r>
            <a:endParaRPr b="0" i="0" sz="273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0" y="6675120"/>
            <a:ext cx="12161400" cy="1830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0" y="6656832"/>
            <a:ext cx="1216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525" wrap="square" tIns="0">
            <a:noAutofit/>
          </a:bodyPr>
          <a:lstStyle/>
          <a:p>
            <a:pPr indent="457200" lvl="0" marL="9601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 Week 7 Update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0" y="0"/>
            <a:ext cx="12161400" cy="109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0" y="109728"/>
            <a:ext cx="121614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320053" y="242221"/>
            <a:ext cx="71400" cy="617100"/>
          </a:xfrm>
          <a:prstGeom prst="rect">
            <a:avLst/>
          </a:prstGeom>
          <a:solidFill>
            <a:srgbClr val="157A6E"/>
          </a:solidFill>
          <a:ln cap="flat" cmpd="sng" w="16475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675" lIns="118675" spcFirstLastPara="1" rIns="118675" wrap="square" tIns="11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98093" y="182874"/>
            <a:ext cx="109200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56"/>
              <a:buFont typeface="Calibri"/>
              <a:buNone/>
            </a:pPr>
            <a:r>
              <a:rPr b="1" i="0" lang="en-US" sz="2856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Approach 3 — hping3 Flood Attack from Ubuntu VM</a:t>
            </a:r>
            <a:endParaRPr b="0" i="0" sz="285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379031" y="950881"/>
            <a:ext cx="106824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325" lIns="118675" spcFirstLastPara="1" rIns="118675" wrap="square" tIns="59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8"/>
              <a:buFont typeface="Calibri"/>
              <a:buNone/>
            </a:pPr>
            <a:r>
              <a:rPr b="0" i="0" lang="en-US" sz="162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hping3 SYN flood launched from VirtualBox Ubuntu VM targeting Windows host IP.</a:t>
            </a:r>
            <a:endParaRPr b="0" i="0" sz="16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7" title="linux hping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825" y="1393275"/>
            <a:ext cx="11720650" cy="4958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0" y="6675120"/>
            <a:ext cx="12161400" cy="1830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0" y="6656832"/>
            <a:ext cx="1216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525" wrap="square" tIns="0">
            <a:noAutofit/>
          </a:bodyPr>
          <a:lstStyle/>
          <a:p>
            <a:pPr indent="457200" lvl="0" marL="9601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 Week 7 Update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0" y="0"/>
            <a:ext cx="12161400" cy="1098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0" y="109728"/>
            <a:ext cx="121614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320053" y="328812"/>
            <a:ext cx="71400" cy="617100"/>
          </a:xfrm>
          <a:prstGeom prst="rect">
            <a:avLst/>
          </a:prstGeom>
          <a:solidFill>
            <a:srgbClr val="157A6E"/>
          </a:solidFill>
          <a:ln cap="flat" cmpd="sng" w="16475">
            <a:solidFill>
              <a:srgbClr val="157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675" lIns="118675" spcFirstLastPara="1" rIns="118675" wrap="square" tIns="11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98093" y="269464"/>
            <a:ext cx="10920000" cy="7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856"/>
              <a:buFont typeface="Calibri"/>
              <a:buNone/>
            </a:pPr>
            <a:r>
              <a:rPr b="1" i="0" lang="en-US" sz="2856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Approach 3 — hping3 Flood Attack from Ubuntu VM</a:t>
            </a:r>
            <a:endParaRPr b="0" i="0" sz="285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357383" y="1037472"/>
            <a:ext cx="106824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325" lIns="118675" spcFirstLastPara="1" rIns="118675" wrap="square" tIns="59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8"/>
              <a:buFont typeface="Calibri"/>
              <a:buNone/>
            </a:pPr>
            <a:r>
              <a:rPr b="0" i="0" lang="en-US" sz="1628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hping3 SYN flood launched from VirtualBox Ubuntu VM targeting Windows host IP.</a:t>
            </a:r>
            <a:endParaRPr b="0" i="0" sz="162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8" title="linux suspicous like getting.png"/>
          <p:cNvPicPr preferRelativeResize="0"/>
          <p:nvPr/>
        </p:nvPicPr>
        <p:blipFill rotWithShape="1">
          <a:blip r:embed="rId3">
            <a:alphaModFix/>
          </a:blip>
          <a:srcRect b="8294" l="0" r="0" t="13969"/>
          <a:stretch/>
        </p:blipFill>
        <p:spPr>
          <a:xfrm>
            <a:off x="391450" y="1615876"/>
            <a:ext cx="11340902" cy="47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0" y="6675120"/>
            <a:ext cx="12161400" cy="1830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0" y="6656832"/>
            <a:ext cx="12161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525" wrap="square" tIns="0">
            <a:noAutofit/>
          </a:bodyPr>
          <a:lstStyle/>
          <a:p>
            <a:pPr indent="457200" lvl="0" marL="9601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HPE CPP3  |  Week 7 Update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