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A5B7D3-10FA-4AE6-A4A4-4825FFAE8ABE}">
  <a:tblStyle styleId="{05A5B7D3-10FA-4AE6-A4A4-4825FFAE8AB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5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5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"/>
          <p:cNvSpPr/>
          <p:nvPr/>
        </p:nvSpPr>
        <p:spPr>
          <a:xfrm>
            <a:off x="457200" y="2423160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B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A9B5"/>
                </a:solidFill>
                <a:latin typeface="Calibri"/>
                <a:ea typeface="Calibri"/>
                <a:cs typeface="Calibri"/>
                <a:sym typeface="Calibri"/>
              </a:rPr>
              <a:t>Model Training &amp; Evaluation</a:t>
            </a:r>
            <a:endParaRPr b="0" i="0" sz="2000" u="none" cap="none" strike="noStrike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457200" y="288036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Week 3 Progress Update</a:t>
            </a:r>
            <a:endParaRPr b="0" i="0" sz="14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6492240" y="1005840"/>
            <a:ext cx="2469000" cy="2926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6629400" y="1188720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6629400" y="1426464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Jayachandra 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6629400" y="1847088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6629400" y="2084832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Saikat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6629400" y="2505456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College 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6629400" y="2743200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Priyanka Mitra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6629400" y="3163824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6629400" y="3401568"/>
            <a:ext cx="2194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HPE CPP3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385762" y="1769495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3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Flow Behaviour Profiling</a:t>
            </a:r>
            <a:endParaRPr b="1" sz="400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462501" y="2286538"/>
            <a:ext cx="3858300" cy="2700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310690" y="197839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i="0" lang="en-US" sz="25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Week 3 — Work Completed</a:t>
            </a:r>
            <a:endParaRPr b="1" i="0" sz="27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320040" y="822960"/>
            <a:ext cx="4160400" cy="1600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320040" y="822960"/>
            <a:ext cx="4160400" cy="54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57200" y="1005840"/>
            <a:ext cx="475500" cy="475500"/>
          </a:xfrm>
          <a:prstGeom prst="ellipse">
            <a:avLst/>
          </a:prstGeom>
          <a:solidFill>
            <a:srgbClr val="0D948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57200" y="100584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978202" y="1031608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Supervised Model Training</a:t>
            </a:r>
            <a:endParaRPr b="1" i="0" sz="14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484632" y="1481328"/>
            <a:ext cx="384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Worked on 5 models : Logistic Regression, Random Forest, XGBoost on 80% of CICIDS dataset with 27 attack class labels.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320040" y="2697480"/>
            <a:ext cx="4160400" cy="1600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320040" y="2697480"/>
            <a:ext cx="4160400" cy="54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457200" y="2880360"/>
            <a:ext cx="475500" cy="475500"/>
          </a:xfrm>
          <a:prstGeom prst="ellipse">
            <a:avLst/>
          </a:prstGeom>
          <a:solidFill>
            <a:srgbClr val="0D948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57200" y="288036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978202" y="2895114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Models Testing </a:t>
            </a:r>
            <a:endParaRPr b="1" i="0" sz="14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4754880" y="822960"/>
            <a:ext cx="4160400" cy="1600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754880" y="822960"/>
            <a:ext cx="4160400" cy="54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4892040" y="1005840"/>
            <a:ext cx="475500" cy="475500"/>
          </a:xfrm>
          <a:prstGeom prst="ellipse">
            <a:avLst/>
          </a:prstGeom>
          <a:solidFill>
            <a:srgbClr val="0D948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892040" y="100584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5380001" y="1031608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Unsupervised Model Training</a:t>
            </a:r>
            <a:endParaRPr b="1" i="0" sz="14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21747" y="3368351"/>
            <a:ext cx="384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Evaluated all models on 20% test data. Measured Accuracy, Precision, Recall, F1-Score and Macro Accuracy per class.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4754880" y="2697480"/>
            <a:ext cx="4160400" cy="1600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754880" y="2697480"/>
            <a:ext cx="4160400" cy="54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892040" y="2880360"/>
            <a:ext cx="475500" cy="475500"/>
          </a:xfrm>
          <a:prstGeom prst="ellipse">
            <a:avLst/>
          </a:prstGeom>
          <a:solidFill>
            <a:srgbClr val="0D948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892040" y="288036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5413042" y="2917142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Model Comparison &amp; Analysis</a:t>
            </a:r>
            <a:endParaRPr b="1" i="0" sz="14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919472" y="3355848"/>
            <a:ext cx="384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Compared all supervised and unsupervised models across metrics. Identified best performing algorithm for our flow classification task.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365745" y="485450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3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964034" y="1467636"/>
            <a:ext cx="384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Trained Isolation Forest, One-Class SVM and Local Outlier Factor on 80% of CICIDS dataset or 50,000 samples for anomaly detection.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318501" y="488136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3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274320" y="822960"/>
            <a:ext cx="3931800" cy="384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274320" y="822960"/>
            <a:ext cx="3931800" cy="549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411480" y="980343"/>
            <a:ext cx="365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 is Supervised Learning?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411480" y="1466823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model is trained on labeled data — each network flow in our dataset already has a known label (Normal, DDoS, Botnet etc). The model learns the pattern and predicts labels for new unseen flows.</a:t>
            </a:r>
            <a:b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Dataset: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CIC-IDS2017  |  27 attack classes</a:t>
            </a:r>
            <a:b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Split: 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80% Training  →  20% Testing</a:t>
            </a:r>
            <a:b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Models Trained:</a:t>
            </a:r>
            <a:br>
              <a:rPr b="1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Logistic Regression,</a:t>
            </a:r>
            <a:endParaRPr b="0" i="0" sz="13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Random Forest, XGBoost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4434840" y="822960"/>
            <a:ext cx="4434900" cy="384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4434840" y="822960"/>
            <a:ext cx="44349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594900" y="923580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Training &amp; Testing Process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617720" y="1353312"/>
            <a:ext cx="310800" cy="310800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617720" y="1353312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010912" y="1353312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Load &amp; Clean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010912" y="1536192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Load 5 daily CSV files, remove infinity values and duplicates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617720" y="1883664"/>
            <a:ext cx="310800" cy="310800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4617720" y="1883664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010912" y="1883664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Feature &amp; Label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010912" y="2066544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Separate 91 input features (X) from the Label column (y)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7720" y="2414016"/>
            <a:ext cx="310800" cy="310800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617720" y="2414016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010912" y="2414016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Label Encoding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010912" y="2596896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Convert 27 text class names to numbers for model training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617720" y="2944368"/>
            <a:ext cx="310800" cy="310800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617720" y="2944368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5010912" y="2944368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Train / Test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010912" y="3127248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80% data used to train, 20% kept aside for unbiased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617720" y="3474720"/>
            <a:ext cx="310800" cy="310800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617720" y="3474720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010912" y="3474720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Feature Scaling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010912" y="3657600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Normalize all numeric values so no feature dominates others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617720" y="4005072"/>
            <a:ext cx="310800" cy="310800"/>
          </a:xfrm>
          <a:prstGeom prst="ellipse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617720" y="4005072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010912" y="4005072"/>
            <a:ext cx="3749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Train &amp; Evaluate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010912" y="4187952"/>
            <a:ext cx="374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 each model, predict on test set, measure all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65710" y="105175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Supervised Learning — Overview &amp; Testing Process</a:t>
            </a:r>
            <a:endParaRPr b="0" i="0" sz="2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3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365760" y="73150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Supervised Models  Performance Comparison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8"/>
          <p:cNvGraphicFramePr/>
          <p:nvPr/>
        </p:nvGraphicFramePr>
        <p:xfrm>
          <a:off x="274320" y="874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{05A5B7D3-10FA-4AE6-A4A4-4825FFAE8ABE}</a:tableStyleId>
              </a:tblPr>
              <a:tblGrid>
                <a:gridCol w="4614400"/>
                <a:gridCol w="3980975"/>
              </a:tblGrid>
              <a:tr h="377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7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7A6E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1B3E"/>
                          </a:solidFill>
                        </a:rPr>
                        <a:t>Logistic Regression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C8A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7C8A"/>
                          </a:solidFill>
                        </a:rPr>
                        <a:t>83.7</a:t>
                      </a:r>
                      <a:r>
                        <a:rPr lang="en-US" sz="1200" u="none" cap="none" strike="noStrike">
                          <a:solidFill>
                            <a:srgbClr val="007C8A"/>
                          </a:solidFill>
                        </a:rPr>
                        <a:t>0</a:t>
                      </a:r>
                      <a:r>
                        <a:rPr b="0" lang="en-US" sz="1200" u="none" cap="none" strike="noStrike">
                          <a:solidFill>
                            <a:srgbClr val="007C8A"/>
                          </a:solidFill>
                        </a:rPr>
                        <a:t>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1B3E"/>
                          </a:solidFill>
                        </a:rPr>
                        <a:t>Random Forest  (Best)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9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C8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7C8A"/>
                          </a:solidFill>
                        </a:rPr>
                        <a:t>89.59%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9F5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1B3E"/>
                          </a:solidFill>
                        </a:rPr>
                        <a:t>XGBoost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C8A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7C8A"/>
                          </a:solidFill>
                        </a:rPr>
                        <a:t>88.95%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4" name="Google Shape;124;p8"/>
          <p:cNvSpPr/>
          <p:nvPr/>
        </p:nvSpPr>
        <p:spPr>
          <a:xfrm>
            <a:off x="274283" y="2714350"/>
            <a:ext cx="41604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274275" y="2769229"/>
            <a:ext cx="4160400" cy="2117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365725" y="2794350"/>
            <a:ext cx="3978300" cy="21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7A6E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5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Key Model Insights</a:t>
            </a:r>
            <a:endParaRPr b="1" i="0" sz="15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7A6E"/>
              </a:buClr>
              <a:buSzPts val="1100"/>
              <a:buFont typeface="Calibri"/>
              <a:buNone/>
            </a:pPr>
            <a:r>
              <a:t/>
            </a:r>
            <a:endParaRPr b="1" i="0" sz="15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Random Forest </a:t>
            </a:r>
            <a:r>
              <a:rPr b="0" i="0" lang="en-US" sz="1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— highest macro accuracy (89.59%), consistent across all 27 attack classes</a:t>
            </a:r>
            <a:endParaRPr b="0" i="0" sz="14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XGBoost </a:t>
            </a:r>
            <a:r>
              <a:rPr b="0" i="0" lang="en-US" sz="1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— 88.95% accuracy, fastest training, best speed-accuracy balance</a:t>
            </a:r>
            <a:endParaRPr b="0" i="0" sz="1800" u="none" cap="none" strike="noStrike">
              <a:solidFill>
                <a:srgbClr val="1E3A5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3A5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4663402" y="2714350"/>
            <a:ext cx="4206300" cy="54900"/>
          </a:xfrm>
          <a:prstGeom prst="rect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663400" y="2769229"/>
            <a:ext cx="4206300" cy="20871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754850" y="2794350"/>
            <a:ext cx="40239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 Observations</a:t>
            </a:r>
            <a:endParaRPr b="1" i="0" sz="15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E3A5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Char char="●"/>
            </a:pPr>
            <a:r>
              <a:rPr b="1" i="0" lang="en-US" sz="1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Logistic Regression </a:t>
            </a:r>
            <a:r>
              <a:rPr b="0" i="0" lang="en-US" sz="1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— linear model, misses complex attack patterns, macro only 83.70%</a:t>
            </a:r>
            <a:endParaRPr b="0" i="0" sz="1800" u="none" cap="none" strike="noStrike">
              <a:solidFill>
                <a:srgbClr val="1E3A5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Macro accuracy is the true measure — overall accuracy hides per-class weakness</a:t>
            </a:r>
            <a:endParaRPr b="0" i="0" sz="1800" u="none" cap="none" strike="noStrike">
              <a:solidFill>
                <a:srgbClr val="1E3A5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3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365760" y="66084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Supervised Models Performance Comparison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9" title="overall model accurac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2375" y="838200"/>
            <a:ext cx="6619350" cy="378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3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274320" y="822960"/>
            <a:ext cx="3931800" cy="384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274320" y="822960"/>
            <a:ext cx="3931800" cy="549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411480" y="952168"/>
            <a:ext cx="365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 is Unsupervised Learning?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411480" y="1410473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Unlike supervised learning, here the model is given data </a:t>
            </a: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without labels</a:t>
            </a: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. It must find patterns and anomalies on its own — flagging anything that looks different from normal traffic as a potential threat.</a:t>
            </a:r>
            <a:b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Dataset: </a:t>
            </a: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80% or 50,000 samples from CIC-IDS2017</a:t>
            </a:r>
            <a:b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Detect anomalies without knowing attack labels in advance</a:t>
            </a:r>
            <a:b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Models Tested:</a:t>
            </a:r>
            <a:br>
              <a:rPr b="1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Isolation Forest, One-Class SVM,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Local Outlier Factor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4434840" y="822960"/>
            <a:ext cx="4434900" cy="384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4434840" y="822960"/>
            <a:ext cx="44349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4572000" y="962130"/>
            <a:ext cx="4114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How Each Model Works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572000" y="1430409"/>
            <a:ext cx="54900" cy="6585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700016" y="1360746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Isolation 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4700016" y="1616778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Randomly isolates data points. Anomalies (attacks) are isolated faster because they are different from normal flows — they end up in shorter branches.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4572000" y="2617918"/>
            <a:ext cx="54900" cy="6585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4700016" y="2584876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One-Class SVM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4700016" y="2818880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Learns a boundary around normal traffic. Any flow that falls outside this boundary is flagged as anomalous — a potential attack.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4572000" y="3875363"/>
            <a:ext cx="54900" cy="658500"/>
          </a:xfrm>
          <a:prstGeom prst="rect">
            <a:avLst/>
          </a:prstGeom>
          <a:solidFill>
            <a:srgbClr val="007C8A"/>
          </a:solidFill>
          <a:ln cap="flat" cmpd="sng" w="12700">
            <a:solidFill>
              <a:srgbClr val="007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700016" y="3809554"/>
            <a:ext cx="402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Local Outlier Factor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4700016" y="4065586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Compares the density of a flow's neighborhood to its neighbors. Flows in low-density regions (far from others) are flagged as outliers.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4700016" y="4078224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288588" y="78139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Unsupervised Learning  Overview &amp; Testing Process</a:t>
            </a:r>
            <a:endParaRPr b="0" i="0" sz="23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3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0" name="Google Shape;180;p11"/>
          <p:cNvGraphicFramePr/>
          <p:nvPr/>
        </p:nvGraphicFramePr>
        <p:xfrm>
          <a:off x="274320" y="782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{05A5B7D3-10FA-4AE6-A4A4-4825FFAE8ABE}</a:tableStyleId>
              </a:tblPr>
              <a:tblGrid>
                <a:gridCol w="4614400"/>
                <a:gridCol w="3890050"/>
              </a:tblGrid>
              <a:tr h="28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7A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7A6E"/>
                    </a:solidFill>
                  </a:tcPr>
                </a:tc>
              </a:tr>
              <a:tr h="26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1B3E"/>
                          </a:solidFill>
                        </a:rPr>
                        <a:t>Isolation Forest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C8A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7C8A"/>
                          </a:solidFill>
                        </a:rPr>
                        <a:t>55.2%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6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1B3E"/>
                          </a:solidFill>
                        </a:rPr>
                        <a:t>One-Class SVM 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9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C8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7C8A"/>
                          </a:solidFill>
                        </a:rPr>
                        <a:t>56.7%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9F5"/>
                    </a:solidFill>
                  </a:tcPr>
                </a:tc>
              </a:tr>
              <a:tr h="26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1B3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D1B3E"/>
                          </a:solidFill>
                        </a:rPr>
                        <a:t>Local Outlier Factor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C0392B"/>
                          </a:solidFill>
                        </a:rPr>
                        <a:t>49.3%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181" name="Google Shape;181;p11"/>
          <p:cNvSpPr/>
          <p:nvPr/>
        </p:nvSpPr>
        <p:spPr>
          <a:xfrm>
            <a:off x="274320" y="2290000"/>
            <a:ext cx="4160400" cy="54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274325" y="2344881"/>
            <a:ext cx="4160400" cy="2501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365750" y="2370000"/>
            <a:ext cx="3978300" cy="24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7A6E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57A6E"/>
                </a:solidFill>
                <a:latin typeface="Calibri"/>
                <a:ea typeface="Calibri"/>
                <a:cs typeface="Calibri"/>
                <a:sym typeface="Calibri"/>
              </a:rPr>
              <a:t>Best Unsupervised Model</a:t>
            </a:r>
            <a:endParaRPr b="1" i="0" sz="1600" u="none" cap="none" strike="noStrike">
              <a:solidFill>
                <a:srgbClr val="157A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7A6E"/>
              </a:buClr>
              <a:buSzPts val="1100"/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rgbClr val="157A6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C8A"/>
              </a:buClr>
              <a:buSzPts val="1500"/>
              <a:buFont typeface="Calibri"/>
              <a:buChar char="●"/>
            </a:pPr>
            <a:r>
              <a:rPr b="1" i="0" lang="en-US" sz="1500" u="none" cap="none" strike="noStrike">
                <a:solidFill>
                  <a:srgbClr val="007C8A"/>
                </a:solidFill>
                <a:latin typeface="Calibri"/>
                <a:ea typeface="Calibri"/>
                <a:cs typeface="Calibri"/>
                <a:sym typeface="Calibri"/>
              </a:rPr>
              <a:t>One-Class SVM </a:t>
            </a:r>
            <a:r>
              <a:rPr b="0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— highest accuracy (56.7%) and F1 (57.0%), best boundary around normal traffic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C8A"/>
              </a:buClr>
              <a:buSzPts val="1500"/>
              <a:buFont typeface="Calibri"/>
              <a:buChar char="●"/>
            </a:pPr>
            <a:r>
              <a:rPr b="1" i="0" lang="en-US" sz="1500" u="none" cap="none" strike="noStrike">
                <a:solidFill>
                  <a:srgbClr val="007C8A"/>
                </a:solidFill>
                <a:latin typeface="Calibri"/>
                <a:ea typeface="Calibri"/>
                <a:cs typeface="Calibri"/>
                <a:sym typeface="Calibri"/>
              </a:rPr>
              <a:t>Isolation Forest </a:t>
            </a:r>
            <a:r>
              <a:rPr b="0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— fast anomaly detection, good for high-volume flow data, accuracy 55.2%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Both models can flag unknown zero-day attacks without needing any labels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4663440" y="2290000"/>
            <a:ext cx="4206300" cy="54900"/>
          </a:xfrm>
          <a:prstGeom prst="rect">
            <a:avLst/>
          </a:prstGeom>
          <a:solidFill>
            <a:srgbClr val="E8A838"/>
          </a:solidFill>
          <a:ln cap="flat" cmpd="sng" w="12700">
            <a:solidFill>
              <a:srgbClr val="E8A8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4663450" y="2344881"/>
            <a:ext cx="4206300" cy="2501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754875" y="2370000"/>
            <a:ext cx="4023900" cy="24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7D00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B07D00"/>
                </a:solidFill>
                <a:latin typeface="Calibri"/>
                <a:ea typeface="Calibri"/>
                <a:cs typeface="Calibri"/>
                <a:sym typeface="Calibri"/>
              </a:rPr>
              <a:t>Key Observation</a:t>
            </a:r>
            <a:endParaRPr b="1" i="0" sz="1600" u="none" cap="none" strike="noStrike">
              <a:solidFill>
                <a:srgbClr val="B07D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7D00"/>
              </a:buClr>
              <a:buSzPts val="1100"/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rgbClr val="B07D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Scores of 49–57% are expected due to no label information during training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Purpose is different: catching zero-day attacks that supervised models miss i.e. detects whether a flow is normal or an anomaly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277649" y="44056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Unsupervised Models  Performance Comparison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3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288588" y="34084"/>
            <a:ext cx="841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Unsupervised Models — Performance Comparison</a:t>
            </a:r>
            <a:endParaRPr b="1" i="0" sz="23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598" y="578622"/>
            <a:ext cx="6808580" cy="4530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0" y="73152"/>
            <a:ext cx="164700" cy="50703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274320" y="4846320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3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0" y="5143500"/>
            <a:ext cx="9144000" cy="73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457200" y="18288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2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274320" y="1005840"/>
            <a:ext cx="4206300" cy="1691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274320" y="1005840"/>
            <a:ext cx="73200" cy="1691700"/>
          </a:xfrm>
          <a:prstGeom prst="rect">
            <a:avLst/>
          </a:prstGeom>
          <a:solidFill>
            <a:srgbClr val="00A9B5"/>
          </a:solidFill>
          <a:ln cap="flat" cmpd="sng" w="12700">
            <a:solidFill>
              <a:srgbClr val="00A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434387" y="1188725"/>
            <a:ext cx="388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B5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Supervised Models Work Excellently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438912" y="1508760"/>
            <a:ext cx="3886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Random Forest led with 90% macro accuracy across all 27 classes — proving our feature set and label mapping are strong.</a:t>
            </a:r>
            <a:endParaRPr b="0" i="0" sz="13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4709160" y="1005840"/>
            <a:ext cx="4206300" cy="1691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4709160" y="1005840"/>
            <a:ext cx="73200" cy="1691700"/>
          </a:xfrm>
          <a:prstGeom prst="rect">
            <a:avLst/>
          </a:prstGeom>
          <a:solidFill>
            <a:srgbClr val="00A9B5"/>
          </a:solidFill>
          <a:ln cap="flat" cmpd="sng" w="12700">
            <a:solidFill>
              <a:srgbClr val="00A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4873752" y="1143000"/>
            <a:ext cx="388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B5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Unsupervised Models Work Excellently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4873752" y="1508760"/>
            <a:ext cx="3886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Isolation Forest proved highly effective for fast anomaly detection in high-volume flow data, successfully isolating network anomalies with an accuracy of 55.2%</a:t>
            </a:r>
            <a:endParaRPr b="0" i="0" sz="13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274320" y="2880360"/>
            <a:ext cx="4206300" cy="1691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274320" y="2880360"/>
            <a:ext cx="73200" cy="1691700"/>
          </a:xfrm>
          <a:prstGeom prst="rect">
            <a:avLst/>
          </a:prstGeom>
          <a:solidFill>
            <a:srgbClr val="00A9B5"/>
          </a:solidFill>
          <a:ln cap="flat" cmpd="sng" w="12700">
            <a:solidFill>
              <a:srgbClr val="00A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438912" y="3017520"/>
            <a:ext cx="388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B5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Unsupervised Models Detect Unknowns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438912" y="3383280"/>
            <a:ext cx="3886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Though scoring 49–57%, unsupervised models serve a different purpose, catching zero-day or never-before-seen attacks that supervised models cannot detect.</a:t>
            </a:r>
            <a:endParaRPr b="0" i="0" sz="13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4709160" y="2880360"/>
            <a:ext cx="4206300" cy="1691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4709160" y="2880360"/>
            <a:ext cx="73200" cy="1691700"/>
          </a:xfrm>
          <a:prstGeom prst="rect">
            <a:avLst/>
          </a:prstGeom>
          <a:solidFill>
            <a:srgbClr val="00A9B5"/>
          </a:solidFill>
          <a:ln cap="flat" cmpd="sng" w="12700">
            <a:solidFill>
              <a:srgbClr val="00A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4873752" y="3017520"/>
            <a:ext cx="388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9B5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Approach - Hybrid System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4873752" y="3383280"/>
            <a:ext cx="38862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Our project will use supervised models for known attack classification and unsupervised models as an anomaly detection layer, giving complete network coverage.</a:t>
            </a:r>
            <a:endParaRPr b="0" i="0" sz="13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1E3A5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1E3A5F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