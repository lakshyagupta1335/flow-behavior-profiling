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hyperlink" Target="https://www.kaggle.com/datasets/ernie55ernie/improved-cicids2017-and-csecicids2018" TargetMode="External"/><Relationship Id="rId5" Type="http://schemas.openxmlformats.org/officeDocument/2006/relationships/hyperlink" Target="https://www.kaggle.com/datasets/ernie55ernie/improved-cicids2017-and-csecicids2018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29512" y="1783067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Behaviour Profilin</a:t>
            </a: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1" sz="40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800"/>
              <a:buFont typeface="Calibri"/>
              <a:buNone/>
            </a:pPr>
            <a:r>
              <a:t/>
            </a:r>
            <a:endParaRPr b="1" sz="38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246888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lang="en-US" sz="1700">
                <a:solidFill>
                  <a:srgbClr val="0D9497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sz="100">
              <a:solidFill>
                <a:srgbClr val="0D949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3017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Week 1 Progress Update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83680" y="1097280"/>
            <a:ext cx="2377440" cy="25603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720850" y="1280149"/>
            <a:ext cx="2103000" cy="22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College Mentor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Priyanka Mitra 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37045" y="2286538"/>
            <a:ext cx="3858300" cy="270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20040" y="822960"/>
            <a:ext cx="4114800" cy="2286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0040" y="822960"/>
            <a:ext cx="41148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11480" y="9144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480" y="1325880"/>
            <a:ext cx="3931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Modern networks generate billions of packets per hour. Security teams cannot manually inspect each one. Without intelligent classification, threats go undetected and analysts waste time on false positives.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709160" y="822960"/>
            <a:ext cx="4114800" cy="2286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09160" y="822960"/>
            <a:ext cx="41148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800600" y="9144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800600" y="1325880"/>
            <a:ext cx="3931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an ML pipeline that analyzes network flows and automatically classifies each as: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Normal, 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Suspicious, 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Misconfigured, 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Attack-like — enabling pre-security analytics and faster response.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" y="3291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Classification Labels: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3657600"/>
            <a:ext cx="2011680" cy="5029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0040" y="3657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468880" y="3657600"/>
            <a:ext cx="2011680" cy="5029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468880" y="3657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Suspicious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617720" y="3657600"/>
            <a:ext cx="2011680" cy="5029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617720" y="3657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Misconfigured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766560" y="3657600"/>
            <a:ext cx="2011680" cy="5029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766560" y="36576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Attack-like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1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rgbClr val="19284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Week 1 : Data Collection </a:t>
            </a:r>
            <a:r>
              <a:rPr b="0" i="0" lang="en-US" sz="2700" u="none" cap="none" strike="noStrike">
                <a:solidFill>
                  <a:schemeClr val="dk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0040" y="822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All Parameters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1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 title="WhatsApp Image 2026-03-08 at 7.41.33 PM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992" y="1297750"/>
            <a:ext cx="4285489" cy="330237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>
            <a:hlinkClick r:id="rId4"/>
          </p:cNvPr>
          <p:cNvSpPr/>
          <p:nvPr/>
        </p:nvSpPr>
        <p:spPr>
          <a:xfrm>
            <a:off x="4754717" y="1288531"/>
            <a:ext cx="3840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https://www.kaggle.com/datasets/ernie55ernie/improved-cicids2017-and-csecicids2018</a:t>
            </a:r>
            <a:endParaRPr b="0" i="0" sz="11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54865" y="822585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76048" y="1865733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CORE FLOW IDENTIFICATION PARAMETERS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891975" y="2259474"/>
            <a:ext cx="3840600" cy="1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Source IP – IP address of the sender</a:t>
            </a:r>
            <a:endParaRPr b="0" i="0" sz="11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Destination IP – IP address of the receiver </a:t>
            </a:r>
            <a:endParaRPr b="0" i="0" sz="11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Source Port – port used by the sender application </a:t>
            </a:r>
            <a:endParaRPr b="0" i="0" sz="11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Destination Port – service port on the receiver </a:t>
            </a:r>
            <a:endParaRPr b="0" i="0" sz="11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Protocol – TCP, UDP, or ICMP These help detect patterns like scanning or repeated connections.</a:t>
            </a:r>
            <a:endParaRPr b="0" i="0" sz="11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Dataset: CICIDS2017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20040" y="822960"/>
            <a:ext cx="2011680" cy="10058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20040" y="8686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16M+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20040" y="14173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Flow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2468880" y="822960"/>
            <a:ext cx="2011680" cy="10058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468880" y="8686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468880" y="14173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Features per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663122" y="810214"/>
            <a:ext cx="2011800" cy="10059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663122" y="855934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663122" y="1404574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Benchmark Year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20040" y="2011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Dataset Details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20040" y="237744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Canadian Institute for Cybersecurity (Kaggle)</a:t>
            </a: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Format: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CSV (pre-extracted flow features)</a:t>
            </a: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Data Type: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Network flows with labeled traffic</a:t>
            </a: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Coverage: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Monday–Friday traffic scenarios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709160" y="2011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CICIDS2017?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709160" y="237744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Contains both benign and attack traffic for supervised labeling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Pre-extracted NetFlow-style features match our pipeline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Includes DDoS, brute force, botnet, and infiltration scenarios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Widely used benchmark — enables comparison with published research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1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0" y="73152"/>
            <a:ext cx="164700" cy="50787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0" y="5151744"/>
            <a:ext cx="9144000" cy="732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274320" y="12000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Example / Sample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74320" y="68580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df.head()  —  First 5 rows x 91 columns  |  CICIDS2017 Dataset imported from Kaggle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74320" y="475404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1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7" title="Screenshot 2026-03-08 195430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15" y="1023000"/>
            <a:ext cx="8651022" cy="3506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0" y="73152"/>
            <a:ext cx="164700" cy="50787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0" y="5151744"/>
            <a:ext cx="9144000" cy="732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07795" y="16680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Parameters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93400" y="669600"/>
            <a:ext cx="4942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1"/>
              <a:buFont typeface="Arial"/>
              <a:buNone/>
            </a:pPr>
            <a:r>
              <a:rPr b="1" i="0" lang="en-US" sz="1421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Parameter Categories</a:t>
            </a:r>
            <a:endParaRPr b="0" i="0" sz="18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07800" y="1028900"/>
            <a:ext cx="6455700" cy="638400"/>
          </a:xfrm>
          <a:prstGeom prst="rect">
            <a:avLst/>
          </a:prstGeom>
          <a:solidFill>
            <a:srgbClr val="1E3A5F"/>
          </a:solidFill>
          <a:ln cap="flat" cmpd="sng" w="111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460996" y="1028900"/>
            <a:ext cx="44934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None/>
            </a:pPr>
            <a:r>
              <a:rPr b="1" i="0" lang="en-US" sz="130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Flow ID:  </a:t>
            </a:r>
            <a:r>
              <a:rPr b="0" i="0" lang="en-US" sz="1188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Src IP, Dst IP, Src Port, Dst Port, Protocol</a:t>
            </a:r>
            <a:endParaRPr b="0" i="0" sz="18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07800" y="1667025"/>
            <a:ext cx="6455700" cy="638400"/>
          </a:xfrm>
          <a:prstGeom prst="rect">
            <a:avLst/>
          </a:prstGeom>
          <a:solidFill>
            <a:srgbClr val="F8FAFC"/>
          </a:solidFill>
          <a:ln cap="flat" cmpd="sng" w="111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407800" y="1667025"/>
            <a:ext cx="85200" cy="638400"/>
          </a:xfrm>
          <a:prstGeom prst="rect">
            <a:avLst/>
          </a:prstGeom>
          <a:solidFill>
            <a:srgbClr val="0D9488"/>
          </a:solidFill>
          <a:ln cap="flat" cmpd="sng" w="11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24800" y="1667025"/>
            <a:ext cx="58014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None/>
            </a:pPr>
            <a:r>
              <a:rPr b="1" i="0" lang="en-US" sz="1304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Traffic Volume:  </a:t>
            </a:r>
            <a:r>
              <a:rPr b="0" i="0" lang="en-US" sz="118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Packets, Bytes, Fwd/Bwd Packets, Packet Rate, Byte Rate</a:t>
            </a:r>
            <a:endParaRPr b="0" i="0" sz="18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07800" y="2305150"/>
            <a:ext cx="6455700" cy="638400"/>
          </a:xfrm>
          <a:prstGeom prst="rect">
            <a:avLst/>
          </a:prstGeom>
          <a:solidFill>
            <a:srgbClr val="F8FAFC"/>
          </a:solidFill>
          <a:ln cap="flat" cmpd="sng" w="111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07800" y="2305162"/>
            <a:ext cx="85200" cy="638400"/>
          </a:xfrm>
          <a:prstGeom prst="rect">
            <a:avLst/>
          </a:prstGeom>
          <a:solidFill>
            <a:srgbClr val="0D9488"/>
          </a:solidFill>
          <a:ln cap="flat" cmpd="sng" w="11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24800" y="2305150"/>
            <a:ext cx="60792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None/>
            </a:pPr>
            <a:r>
              <a:rPr b="1" i="0" lang="en-US" sz="1304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Time Behavior:  </a:t>
            </a:r>
            <a:r>
              <a:rPr b="0" i="0" lang="en-US" sz="118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Flow Duration, IAT (Inter-Arrival Time), Burstiness, RTT Variance</a:t>
            </a:r>
            <a:endParaRPr b="0" i="0" sz="18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07800" y="2943300"/>
            <a:ext cx="6455700" cy="638400"/>
          </a:xfrm>
          <a:prstGeom prst="rect">
            <a:avLst/>
          </a:prstGeom>
          <a:solidFill>
            <a:srgbClr val="F8FAFC"/>
          </a:solidFill>
          <a:ln cap="flat" cmpd="sng" w="111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07800" y="2943298"/>
            <a:ext cx="85200" cy="638400"/>
          </a:xfrm>
          <a:prstGeom prst="rect">
            <a:avLst/>
          </a:prstGeom>
          <a:solidFill>
            <a:srgbClr val="0D9488"/>
          </a:solidFill>
          <a:ln cap="flat" cmpd="sng" w="11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24800" y="2943300"/>
            <a:ext cx="44934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None/>
            </a:pPr>
            <a:r>
              <a:rPr b="1" i="0" lang="en-US" sz="1304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Packet Structure:  </a:t>
            </a:r>
            <a:r>
              <a:rPr b="0" i="0" lang="en-US" sz="118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Avg/Min/Max Packet Size, Packet Size Entropy</a:t>
            </a:r>
            <a:endParaRPr b="0" i="0" sz="18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07800" y="3581425"/>
            <a:ext cx="6455700" cy="638400"/>
          </a:xfrm>
          <a:prstGeom prst="rect">
            <a:avLst/>
          </a:prstGeom>
          <a:solidFill>
            <a:srgbClr val="F8FAFC"/>
          </a:solidFill>
          <a:ln cap="flat" cmpd="sng" w="111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407800" y="3581435"/>
            <a:ext cx="85200" cy="638400"/>
          </a:xfrm>
          <a:prstGeom prst="rect">
            <a:avLst/>
          </a:prstGeom>
          <a:solidFill>
            <a:srgbClr val="DC2626"/>
          </a:solidFill>
          <a:ln cap="flat" cmpd="sng" w="111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24799" y="3581425"/>
            <a:ext cx="43677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None/>
            </a:pPr>
            <a:r>
              <a:rPr b="1" i="0" lang="en-US" sz="1304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TCP Flags (Attack signals):  </a:t>
            </a:r>
            <a:r>
              <a:rPr b="0" i="0" lang="en-US" sz="118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SYN, ACK, FIN, RST Flag Counts</a:t>
            </a:r>
            <a:endParaRPr b="0" i="0" sz="18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07800" y="4219575"/>
            <a:ext cx="6455700" cy="638400"/>
          </a:xfrm>
          <a:prstGeom prst="rect">
            <a:avLst/>
          </a:prstGeom>
          <a:solidFill>
            <a:srgbClr val="F8FAFC"/>
          </a:solidFill>
          <a:ln cap="flat" cmpd="sng" w="111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07800" y="4219571"/>
            <a:ext cx="85200" cy="638400"/>
          </a:xfrm>
          <a:prstGeom prst="rect">
            <a:avLst/>
          </a:prstGeom>
          <a:solidFill>
            <a:srgbClr val="0891B2"/>
          </a:solidFill>
          <a:ln cap="flat" cmpd="sng" w="111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8"/>
              <a:buFont typeface="Arial"/>
              <a:buNone/>
            </a:pPr>
            <a:r>
              <a:t/>
            </a:r>
            <a:endParaRPr b="0" i="0" sz="16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24800" y="4219575"/>
            <a:ext cx="55104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175" lIns="106325" spcFirstLastPara="1" rIns="106325" wrap="square" tIns="5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None/>
            </a:pPr>
            <a:r>
              <a:rPr b="1" i="0" lang="en-US" sz="1304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Flow Stability:  </a:t>
            </a:r>
            <a:r>
              <a:rPr b="0" i="0" lang="en-US" sz="118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Active Time, Idle Time, Flow Lifetime, Flow Frequency</a:t>
            </a:r>
            <a:endParaRPr b="0" i="0" sz="18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74320" y="475404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1 Update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