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s+m2io+Ayr3uYT73443vSabK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afc5460a_1_112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2afc5460a_1_11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2afc5460a_1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2afc5460a_1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9534f4755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e9534f4755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e9534f4755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9534f475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e9534f475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9534f4755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9534f4755_0_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g3e9534f4755_0_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9534f4755_0_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2afc5460a_1_12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2afc5460a_1_12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9534f4755_0_5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e9534f4755_0_5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2afc5460a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g3e2afc5460a_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e2afc5460a_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7620"/>
            <a:ext cx="3474720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274320" y="960130"/>
            <a:ext cx="301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Behaviour Profiling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74320" y="2011680"/>
            <a:ext cx="2194560" cy="4572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274258" y="2240265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 Review Presentation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74320" y="26060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1 – 7 Progress Summary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28600" y="3771900"/>
            <a:ext cx="3017520" cy="1097280"/>
          </a:xfrm>
          <a:prstGeom prst="rect">
            <a:avLst/>
          </a:prstGeom>
          <a:solidFill>
            <a:srgbClr val="0A5F64"/>
          </a:solidFill>
          <a:ln cap="flat" cmpd="sng" w="12700">
            <a:solidFill>
              <a:srgbClr val="0A5F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11480" y="3822192"/>
            <a:ext cx="2743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D5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A8D8D5"/>
                </a:solidFill>
                <a:latin typeface="Calibri"/>
                <a:ea typeface="Calibri"/>
                <a:cs typeface="Calibri"/>
                <a:sym typeface="Calibri"/>
              </a:rPr>
              <a:t>Mentor: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b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A8D8D5"/>
                </a:solidFill>
                <a:latin typeface="Calibri"/>
                <a:ea typeface="Calibri"/>
                <a:cs typeface="Calibri"/>
                <a:sym typeface="Calibri"/>
              </a:rPr>
              <a:t>Manager: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b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A8D8D5"/>
                </a:solidFill>
                <a:latin typeface="Calibri"/>
                <a:ea typeface="Calibri"/>
                <a:cs typeface="Calibri"/>
                <a:sym typeface="Calibri"/>
              </a:rPr>
              <a:t>College Mentor: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b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A8D8D5"/>
                </a:solidFill>
                <a:latin typeface="Calibri"/>
                <a:ea typeface="Calibri"/>
                <a:cs typeface="Calibri"/>
                <a:sym typeface="Calibri"/>
              </a:rPr>
              <a:t>Program: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794755" y="640065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88E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14A88E"/>
                </a:solidFill>
                <a:latin typeface="Calibri"/>
                <a:ea typeface="Calibri"/>
                <a:cs typeface="Calibri"/>
                <a:sym typeface="Calibri"/>
              </a:rPr>
              <a:t>PROGRESS REPORT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840480" y="960120"/>
            <a:ext cx="502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7 Weeks of Work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840480" y="1691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800"/>
              <a:buFont typeface="Calibri"/>
              <a:buNone/>
            </a:pPr>
            <a:r>
              <a:rPr lang="en-US" sz="23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Project 7 </a:t>
            </a:r>
            <a:r>
              <a:rPr lang="en-US" sz="23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week wise</a:t>
            </a:r>
            <a:r>
              <a:rPr lang="en-US" sz="23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 progress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40480" y="2468880"/>
            <a:ext cx="658368" cy="86868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840480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Wk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40480" y="2706624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498848" y="2884932"/>
            <a:ext cx="54864" cy="36576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553712" y="2468880"/>
            <a:ext cx="658368" cy="86868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553712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Wk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53712" y="2706624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212080" y="2884932"/>
            <a:ext cx="54864" cy="36576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266944" y="2468880"/>
            <a:ext cx="658368" cy="868680"/>
          </a:xfrm>
          <a:prstGeom prst="rect">
            <a:avLst/>
          </a:prstGeom>
          <a:solidFill>
            <a:srgbClr val="16967E"/>
          </a:solidFill>
          <a:ln cap="flat" cmpd="sng" w="12700">
            <a:solidFill>
              <a:srgbClr val="16967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266944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Wk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266944" y="2706624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925312" y="2884932"/>
            <a:ext cx="54864" cy="36576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980176" y="2468880"/>
            <a:ext cx="658368" cy="868680"/>
          </a:xfrm>
          <a:prstGeom prst="rect">
            <a:avLst/>
          </a:prstGeom>
          <a:solidFill>
            <a:srgbClr val="0D7E88"/>
          </a:solidFill>
          <a:ln cap="flat" cmpd="sng" w="12700">
            <a:solidFill>
              <a:srgbClr val="0D7E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5980176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Wk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980176" y="2706624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Rule-Based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638544" y="2884932"/>
            <a:ext cx="54864" cy="36576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693408" y="2468880"/>
            <a:ext cx="658368" cy="86868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6693408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Wk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693408" y="2706624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351776" y="2884932"/>
            <a:ext cx="54864" cy="36576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7406640" y="2468880"/>
            <a:ext cx="658368" cy="86868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7406640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Wk 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7406640" y="2706624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8065008" y="2884932"/>
            <a:ext cx="54864" cy="36576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8119872" y="2468880"/>
            <a:ext cx="658368" cy="868680"/>
          </a:xfrm>
          <a:prstGeom prst="rect">
            <a:avLst/>
          </a:prstGeom>
          <a:solidFill>
            <a:srgbClr val="16967E"/>
          </a:solidFill>
          <a:ln cap="flat" cmpd="sng" w="12700">
            <a:solidFill>
              <a:srgbClr val="16967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8119872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Wk 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8119872" y="2706624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840480" y="47548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rPr i="1" lang="en-US" sz="10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</a:t>
            </a:r>
            <a:r>
              <a:rPr i="1" lang="en-US" sz="10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0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74320" y="990600"/>
            <a:ext cx="41148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65760" y="9784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57200" y="146304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Modern networks generate billions of packets per hour. Security teams cannot manually inspect each one. Without intelligent classification, threats go undetected and analysts waste time on false positives.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54880" y="960120"/>
            <a:ext cx="41148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846320" y="9784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892040" y="1463040"/>
            <a:ext cx="3794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Build an ML pipeline that analyzes network flows and automatically classifies each as Normal, Suspicious, Misconfigured, or Attack-like - enabling pre-security analytics and faster response.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892040" y="3063240"/>
            <a:ext cx="868680" cy="50292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892040" y="306324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852160" y="3063240"/>
            <a:ext cx="868680" cy="50292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852160" y="306324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Suspicious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812280" y="3063240"/>
            <a:ext cx="868680" cy="50292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812280" y="306324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Miscon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igured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7772400" y="3063240"/>
            <a:ext cx="868680" cy="5029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7772400" y="306324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Attack-like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892040" y="3749040"/>
            <a:ext cx="3749040" cy="41148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937760" y="376732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Dataset: CICIDS2017  |  16M+ flows  |  80+ features  |  Canadian Institute for Cybersecurity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e2afc5460a_1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5750" y="18550"/>
            <a:ext cx="955852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e2afc5460a_1_112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e2afc5460a_1_112"/>
          <p:cNvSpPr/>
          <p:nvPr/>
        </p:nvSpPr>
        <p:spPr>
          <a:xfrm>
            <a:off x="365760" y="457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of Labels into 4 Categories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e2afc5460a_1_112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e2afc5460a_1_112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 &amp; Label Design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11480" y="97840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11480" y="1508760"/>
            <a:ext cx="914400" cy="20116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11480" y="15087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417320" y="14249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CICIDS2017 - 16M+ flow records, 80+ features per flow, Monday - Friday traffic scenarios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11480" y="2121408"/>
            <a:ext cx="914400" cy="20116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11480" y="21214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417320" y="20345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Canadian Institute for Cybersecurity (Kaggle) - widely used benchmark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11480" y="2734056"/>
            <a:ext cx="914400" cy="20116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11480" y="2734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417320" y="2651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CSV with pre-extracted NetFlow-style features including labeled traffic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11480" y="3346704"/>
            <a:ext cx="914400" cy="20116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11480" y="33467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417320" y="3230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DDoS, Brute Force, Botnet, Infiltration — both benign and attack traffic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11480" y="3959352"/>
            <a:ext cx="914400" cy="20116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11480" y="39593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417320" y="38694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Core ID, Traffic Volume, Time Behavior, Packet Structure, TCP Flags, Flow Stability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46320" y="960120"/>
            <a:ext cx="40233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983480" y="97840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 Design &amp; Mapping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983480" y="1508760"/>
            <a:ext cx="1005840" cy="347472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983480" y="15087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080760" y="14630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Mapped all CICIDS attack types to 4 project labels: Normal, Suspicious, Misconfigured, Attack-like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983480" y="2121408"/>
            <a:ext cx="1005840" cy="347472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983480" y="2121408"/>
            <a:ext cx="1005840" cy="347472"/>
          </a:xfrm>
          <a:prstGeom prst="rect">
            <a:avLst/>
          </a:prstGeom>
          <a:noFill/>
          <a:ln cap="flat" cmpd="sng" w="9525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Misconfigured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Sub-types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080760" y="20756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 sub-types defined: Dead Service, TCP Handshake Failure, Keep-Alive Timeout, MTU Mismatch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983480" y="2734056"/>
            <a:ext cx="1005840" cy="347472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983480" y="273405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 Behavior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080760" y="2688336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Studied flow indicators for all 13 CICIDS attack types - ports, packet rates, TCP flags, duration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983480" y="3346704"/>
            <a:ext cx="1005840" cy="347472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983480" y="334670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Mapping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080760" y="330098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Identified required dataset features per label; validated availability in CICIDS2017 columns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983480" y="3959352"/>
            <a:ext cx="1005840" cy="347472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983480" y="39593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Merge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080760" y="39136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Merged all daily CSVs and added higher-level classification label column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2afc5460a_1_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2afc5460a_1_0"/>
          <p:cNvSpPr/>
          <p:nvPr/>
        </p:nvSpPr>
        <p:spPr>
          <a:xfrm>
            <a:off x="365760" y="45720"/>
            <a:ext cx="8412600" cy="685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 Training and Evaluation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2afc5460a_1_0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2afc5460a_1_0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2afc5460a_1_0"/>
          <p:cNvSpPr/>
          <p:nvPr/>
        </p:nvSpPr>
        <p:spPr>
          <a:xfrm>
            <a:off x="4572000" y="4901184"/>
            <a:ext cx="429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2afc5460a_1_0"/>
          <p:cNvSpPr/>
          <p:nvPr/>
        </p:nvSpPr>
        <p:spPr>
          <a:xfrm flipH="1">
            <a:off x="146150" y="975450"/>
            <a:ext cx="8851800" cy="2428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2afc5460a_1_0"/>
          <p:cNvSpPr/>
          <p:nvPr/>
        </p:nvSpPr>
        <p:spPr>
          <a:xfrm>
            <a:off x="393700" y="1162001"/>
            <a:ext cx="2165400" cy="777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1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(CICIDS2017 Dataset)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g3e2afc5460a_1_0"/>
          <p:cNvCxnSpPr>
            <a:stCxn id="144" idx="3"/>
            <a:endCxn id="146" idx="1"/>
          </p:cNvCxnSpPr>
          <p:nvPr/>
        </p:nvCxnSpPr>
        <p:spPr>
          <a:xfrm flipH="1" rot="10800000">
            <a:off x="2559100" y="1548851"/>
            <a:ext cx="9018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g3e2afc5460a_1_0"/>
          <p:cNvSpPr/>
          <p:nvPr/>
        </p:nvSpPr>
        <p:spPr>
          <a:xfrm>
            <a:off x="3460750" y="1160350"/>
            <a:ext cx="2165400" cy="777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1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(Cleaning, Label Encoding, Feature Scaling)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e2afc5460a_1_0"/>
          <p:cNvSpPr/>
          <p:nvPr/>
        </p:nvSpPr>
        <p:spPr>
          <a:xfrm>
            <a:off x="6565900" y="1169875"/>
            <a:ext cx="2165400" cy="777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b="1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(Selecting important features)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g3e2afc5460a_1_0"/>
          <p:cNvCxnSpPr>
            <a:endCxn id="147" idx="1"/>
          </p:cNvCxnSpPr>
          <p:nvPr/>
        </p:nvCxnSpPr>
        <p:spPr>
          <a:xfrm>
            <a:off x="5626000" y="1549825"/>
            <a:ext cx="9399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g3e2afc5460a_1_0"/>
          <p:cNvSpPr/>
          <p:nvPr/>
        </p:nvSpPr>
        <p:spPr>
          <a:xfrm>
            <a:off x="389325" y="2439826"/>
            <a:ext cx="2165400" cy="777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1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(Finding Accuracy, Precision, F1-Score)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g3e2afc5460a_1_0"/>
          <p:cNvCxnSpPr>
            <a:stCxn id="149" idx="3"/>
            <a:endCxn id="151" idx="1"/>
          </p:cNvCxnSpPr>
          <p:nvPr/>
        </p:nvCxnSpPr>
        <p:spPr>
          <a:xfrm flipH="1" rot="10800000">
            <a:off x="2554725" y="2826676"/>
            <a:ext cx="9018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1" name="Google Shape;151;g3e2afc5460a_1_0"/>
          <p:cNvSpPr/>
          <p:nvPr/>
        </p:nvSpPr>
        <p:spPr>
          <a:xfrm>
            <a:off x="3456375" y="2438175"/>
            <a:ext cx="2165400" cy="777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1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(Train ML Model)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2afc5460a_1_0"/>
          <p:cNvSpPr/>
          <p:nvPr/>
        </p:nvSpPr>
        <p:spPr>
          <a:xfrm>
            <a:off x="6561525" y="2447700"/>
            <a:ext cx="2165400" cy="777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Train - Test - Split</a:t>
            </a:r>
            <a:endParaRPr b="1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(80% training and 20% testing)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e2afc5460a_1_0"/>
          <p:cNvCxnSpPr>
            <a:endCxn id="152" idx="1"/>
          </p:cNvCxnSpPr>
          <p:nvPr/>
        </p:nvCxnSpPr>
        <p:spPr>
          <a:xfrm>
            <a:off x="5621625" y="2827650"/>
            <a:ext cx="9399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4" name="Google Shape;154;g3e2afc5460a_1_0"/>
          <p:cNvCxnSpPr>
            <a:stCxn id="152" idx="0"/>
            <a:endCxn id="147" idx="2"/>
          </p:cNvCxnSpPr>
          <p:nvPr/>
        </p:nvCxnSpPr>
        <p:spPr>
          <a:xfrm flipH="1" rot="10800000">
            <a:off x="7644225" y="1947300"/>
            <a:ext cx="45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5" name="Google Shape;155;g3e2afc5460a_1_0"/>
          <p:cNvSpPr/>
          <p:nvPr/>
        </p:nvSpPr>
        <p:spPr>
          <a:xfrm>
            <a:off x="393700" y="3819239"/>
            <a:ext cx="2165400" cy="7773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 Model Selection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g3e2afc5460a_1_0"/>
          <p:cNvCxnSpPr>
            <a:stCxn id="155" idx="0"/>
            <a:endCxn id="149" idx="2"/>
          </p:cNvCxnSpPr>
          <p:nvPr/>
        </p:nvCxnSpPr>
        <p:spPr>
          <a:xfrm rot="10800000">
            <a:off x="1471900" y="3217139"/>
            <a:ext cx="4500" cy="60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" name="Google Shape;157;g3e2afc5460a_1_0"/>
          <p:cNvCxnSpPr/>
          <p:nvPr/>
        </p:nvCxnSpPr>
        <p:spPr>
          <a:xfrm flipH="1" rot="10800000">
            <a:off x="2546400" y="3804889"/>
            <a:ext cx="1152000" cy="40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" name="Google Shape;158;g3e2afc5460a_1_0"/>
          <p:cNvCxnSpPr/>
          <p:nvPr/>
        </p:nvCxnSpPr>
        <p:spPr>
          <a:xfrm>
            <a:off x="2552850" y="4204539"/>
            <a:ext cx="1145400" cy="38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" name="Google Shape;159;g3e2afc5460a_1_0"/>
          <p:cNvSpPr txBox="1"/>
          <p:nvPr/>
        </p:nvSpPr>
        <p:spPr>
          <a:xfrm>
            <a:off x="3685550" y="3672850"/>
            <a:ext cx="3276600" cy="255900"/>
          </a:xfrm>
          <a:prstGeom prst="rect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</a:rPr>
              <a:t>Random Forest (Supervised) Model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0" name="Google Shape;160;g3e2afc5460a_1_0"/>
          <p:cNvSpPr txBox="1"/>
          <p:nvPr/>
        </p:nvSpPr>
        <p:spPr>
          <a:xfrm>
            <a:off x="3685550" y="4447550"/>
            <a:ext cx="3276600" cy="255900"/>
          </a:xfrm>
          <a:prstGeom prst="rect">
            <a:avLst/>
          </a:prstGeom>
          <a:solidFill>
            <a:srgbClr val="27AE60"/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</a:rPr>
              <a:t>Isolation </a:t>
            </a:r>
            <a:r>
              <a:rPr b="1" lang="en-US" sz="1200">
                <a:solidFill>
                  <a:schemeClr val="lt1"/>
                </a:solidFill>
              </a:rPr>
              <a:t>Forest (Unsupervised) Model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9534f4755_0_117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9534f4755_0_117"/>
          <p:cNvSpPr/>
          <p:nvPr/>
        </p:nvSpPr>
        <p:spPr>
          <a:xfrm>
            <a:off x="4434840" y="822960"/>
            <a:ext cx="44349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9534f4755_0_117"/>
          <p:cNvSpPr/>
          <p:nvPr/>
        </p:nvSpPr>
        <p:spPr>
          <a:xfrm>
            <a:off x="4434840" y="822960"/>
            <a:ext cx="44349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9534f4755_0_117"/>
          <p:cNvSpPr/>
          <p:nvPr/>
        </p:nvSpPr>
        <p:spPr>
          <a:xfrm>
            <a:off x="4572000" y="96213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How Each Model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e9534f4755_0_117"/>
          <p:cNvSpPr/>
          <p:nvPr/>
        </p:nvSpPr>
        <p:spPr>
          <a:xfrm>
            <a:off x="4572000" y="1422126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9534f4755_0_117"/>
          <p:cNvSpPr/>
          <p:nvPr/>
        </p:nvSpPr>
        <p:spPr>
          <a:xfrm>
            <a:off x="4700016" y="1360746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Isolation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9534f4755_0_117"/>
          <p:cNvSpPr/>
          <p:nvPr/>
        </p:nvSpPr>
        <p:spPr>
          <a:xfrm>
            <a:off x="4700016" y="1633343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Randomly isolates data points. Anomalies (attacks) are isolated faster because they are different from normal flows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they end up in shorter branches.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9534f4755_0_117"/>
          <p:cNvSpPr/>
          <p:nvPr/>
        </p:nvSpPr>
        <p:spPr>
          <a:xfrm>
            <a:off x="4569203" y="2372797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9534f4755_0_117"/>
          <p:cNvSpPr/>
          <p:nvPr/>
        </p:nvSpPr>
        <p:spPr>
          <a:xfrm>
            <a:off x="4697219" y="229006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One-Class SVM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9534f4755_0_117"/>
          <p:cNvSpPr/>
          <p:nvPr/>
        </p:nvSpPr>
        <p:spPr>
          <a:xfrm>
            <a:off x="4697219" y="2573759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Learns a boundary around normal traffic. Any flow that falls outside this boundary is flagged as anomalous — a potential attack.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9534f4755_0_117"/>
          <p:cNvSpPr/>
          <p:nvPr/>
        </p:nvSpPr>
        <p:spPr>
          <a:xfrm>
            <a:off x="4692569" y="324100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Local Outlier Factor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9534f4755_0_117"/>
          <p:cNvSpPr/>
          <p:nvPr/>
        </p:nvSpPr>
        <p:spPr>
          <a:xfrm>
            <a:off x="4761069" y="3496921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Compares the density of a flow's neighborhood to its neighbors. Flows in low-density regions (far from others) are flagged as outliers.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9534f4755_0_117"/>
          <p:cNvSpPr/>
          <p:nvPr/>
        </p:nvSpPr>
        <p:spPr>
          <a:xfrm>
            <a:off x="288588" y="78139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upervised &amp; </a:t>
            </a: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Unsupervised </a:t>
            </a: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Models Evaluated </a:t>
            </a:r>
            <a:endParaRPr b="0" i="0" sz="2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9534f4755_0_117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9534f4755_0_117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9534f4755_0_117"/>
          <p:cNvSpPr/>
          <p:nvPr/>
        </p:nvSpPr>
        <p:spPr>
          <a:xfrm>
            <a:off x="67208" y="822950"/>
            <a:ext cx="41604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9534f4755_0_117"/>
          <p:cNvSpPr/>
          <p:nvPr/>
        </p:nvSpPr>
        <p:spPr>
          <a:xfrm>
            <a:off x="67200" y="877829"/>
            <a:ext cx="4160400" cy="2117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9534f4755_0_117"/>
          <p:cNvSpPr/>
          <p:nvPr/>
        </p:nvSpPr>
        <p:spPr>
          <a:xfrm>
            <a:off x="158650" y="902950"/>
            <a:ext cx="3978300" cy="21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Key Model Insights</a:t>
            </a:r>
            <a:endParaRPr b="1" sz="15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t/>
            </a:r>
            <a:endParaRPr b="1" sz="15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82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1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Random Forest 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— highest macro accuracy (</a:t>
            </a:r>
            <a:r>
              <a:rPr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%), consistent across all 27 attack classes</a:t>
            </a:r>
            <a:endParaRPr b="0" i="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82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1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XGBoost 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88.95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% accuracy, And train</a:t>
            </a:r>
            <a:r>
              <a:rPr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with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boosting advantage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rgbClr val="1E3A5F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3A5F"/>
              </a:solidFill>
            </a:endParaRPr>
          </a:p>
        </p:txBody>
      </p:sp>
      <p:sp>
        <p:nvSpPr>
          <p:cNvPr id="184" name="Google Shape;184;g3e9534f4755_0_117"/>
          <p:cNvSpPr/>
          <p:nvPr/>
        </p:nvSpPr>
        <p:spPr>
          <a:xfrm>
            <a:off x="158650" y="2617929"/>
            <a:ext cx="4206300" cy="2087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e9534f4755_0_117"/>
          <p:cNvSpPr/>
          <p:nvPr/>
        </p:nvSpPr>
        <p:spPr>
          <a:xfrm>
            <a:off x="170570" y="2767012"/>
            <a:ext cx="40239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Observations</a:t>
            </a:r>
            <a:endParaRPr b="1" i="0" sz="15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3A5F"/>
              </a:solidFill>
            </a:endParaRPr>
          </a:p>
          <a:p>
            <a:pPr indent="-2082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1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Logistic Regression 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— linear model, misses complex attack patterns, macro only 83.7</a:t>
            </a:r>
            <a:r>
              <a:rPr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800">
              <a:solidFill>
                <a:srgbClr val="1E3A5F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82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0" i="0" lang="en-US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Macro accuracy is the true measure — overall accuracy hides per-class weakness</a:t>
            </a:r>
            <a:endParaRPr sz="1800">
              <a:solidFill>
                <a:srgbClr val="1E3A5F"/>
              </a:solidFill>
            </a:endParaRPr>
          </a:p>
        </p:txBody>
      </p:sp>
      <p:sp>
        <p:nvSpPr>
          <p:cNvPr id="186" name="Google Shape;186;g3e9534f4755_0_117"/>
          <p:cNvSpPr/>
          <p:nvPr/>
        </p:nvSpPr>
        <p:spPr>
          <a:xfrm>
            <a:off x="67200" y="822950"/>
            <a:ext cx="44919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e9534f4755_0_117"/>
          <p:cNvSpPr/>
          <p:nvPr/>
        </p:nvSpPr>
        <p:spPr>
          <a:xfrm>
            <a:off x="66251" y="822960"/>
            <a:ext cx="44349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e9534f4755_0_117"/>
          <p:cNvSpPr/>
          <p:nvPr/>
        </p:nvSpPr>
        <p:spPr>
          <a:xfrm>
            <a:off x="261389" y="970413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How Each Model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9534f4755_0_117"/>
          <p:cNvSpPr/>
          <p:nvPr/>
        </p:nvSpPr>
        <p:spPr>
          <a:xfrm>
            <a:off x="389405" y="1369029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1" sz="1300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e9534f4755_0_117"/>
          <p:cNvSpPr/>
          <p:nvPr/>
        </p:nvSpPr>
        <p:spPr>
          <a:xfrm>
            <a:off x="389405" y="1641626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calculated weights for each one, and predicted which class a flow belongs to. It draws a straight mathematical line between classes.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9534f4755_0_117"/>
          <p:cNvSpPr/>
          <p:nvPr/>
        </p:nvSpPr>
        <p:spPr>
          <a:xfrm>
            <a:off x="386608" y="229006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1" sz="1300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9534f4755_0_117"/>
          <p:cNvSpPr/>
          <p:nvPr/>
        </p:nvSpPr>
        <p:spPr>
          <a:xfrm>
            <a:off x="386608" y="2582042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Builds trees sequentially — each new tree fixes errors made by the previous one. This "boosting" corrects mistakes progressively.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9534f4755_0_117"/>
          <p:cNvSpPr/>
          <p:nvPr/>
        </p:nvSpPr>
        <p:spPr>
          <a:xfrm>
            <a:off x="381958" y="3199587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1" sz="1300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9534f4755_0_117"/>
          <p:cNvSpPr/>
          <p:nvPr/>
        </p:nvSpPr>
        <p:spPr>
          <a:xfrm>
            <a:off x="381953" y="3442422"/>
            <a:ext cx="3978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Builds independent decision trees on random data subsets, takes majority vote. Each tree sees different data — reduces overfitting,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class_weight='balanced'</a:t>
            </a:r>
            <a:r>
              <a:rPr lang="en-US" sz="1000">
                <a:solidFill>
                  <a:srgbClr val="64748B"/>
                </a:solidFill>
              </a:rPr>
              <a:t> ensures rare attack classes aren't ignored. </a:t>
            </a:r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9534f4755_0_117"/>
          <p:cNvSpPr/>
          <p:nvPr/>
        </p:nvSpPr>
        <p:spPr>
          <a:xfrm>
            <a:off x="219425" y="1447001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9534f4755_0_117"/>
          <p:cNvSpPr/>
          <p:nvPr/>
        </p:nvSpPr>
        <p:spPr>
          <a:xfrm>
            <a:off x="216628" y="2364542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e9534f4755_0_117"/>
          <p:cNvSpPr/>
          <p:nvPr/>
        </p:nvSpPr>
        <p:spPr>
          <a:xfrm>
            <a:off x="228543" y="3281989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9534f4755_0_117"/>
          <p:cNvSpPr/>
          <p:nvPr/>
        </p:nvSpPr>
        <p:spPr>
          <a:xfrm>
            <a:off x="4564553" y="3315092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e9534f4755_0_117"/>
          <p:cNvSpPr/>
          <p:nvPr/>
        </p:nvSpPr>
        <p:spPr>
          <a:xfrm>
            <a:off x="272646" y="4109100"/>
            <a:ext cx="8450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used </a:t>
            </a:r>
            <a:r>
              <a:rPr b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scikit-learn library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Classification, regression , outlier detection.</a:t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 score, classification_report (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gives precision, recall , f1 score )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, confusion matrix ( gives prediction errors ).</a:t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9534f4755_0_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9534f4755_0_0"/>
          <p:cNvSpPr/>
          <p:nvPr/>
        </p:nvSpPr>
        <p:spPr>
          <a:xfrm>
            <a:off x="365760" y="457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Accuracy Evaluation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e9534f4755_0_0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9534f4755_0_0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9534f4755_0_0"/>
          <p:cNvSpPr/>
          <p:nvPr/>
        </p:nvSpPr>
        <p:spPr>
          <a:xfrm>
            <a:off x="4572000" y="4901184"/>
            <a:ext cx="429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e9534f4755_0_0"/>
          <p:cNvSpPr/>
          <p:nvPr/>
        </p:nvSpPr>
        <p:spPr>
          <a:xfrm>
            <a:off x="274320" y="9144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SUPERVISED MODELS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e9534f4755_0_0" title="supervised ml model metric.png"/>
          <p:cNvPicPr preferRelativeResize="0"/>
          <p:nvPr/>
        </p:nvPicPr>
        <p:blipFill rotWithShape="1">
          <a:blip r:embed="rId3">
            <a:alphaModFix/>
          </a:blip>
          <a:srcRect b="0" l="74497" r="10" t="0"/>
          <a:stretch/>
        </p:blipFill>
        <p:spPr>
          <a:xfrm>
            <a:off x="2694572" y="1323625"/>
            <a:ext cx="1599129" cy="325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e9534f4755_0_0" title="supervised ml model metric.png"/>
          <p:cNvPicPr preferRelativeResize="0"/>
          <p:nvPr/>
        </p:nvPicPr>
        <p:blipFill rotWithShape="1">
          <a:blip r:embed="rId3">
            <a:alphaModFix/>
          </a:blip>
          <a:srcRect b="0" l="0" r="50751" t="0"/>
          <a:stretch/>
        </p:blipFill>
        <p:spPr>
          <a:xfrm>
            <a:off x="36750" y="1325700"/>
            <a:ext cx="2940026" cy="325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e9534f4755_0_0" title="supervised ml model metric.png"/>
          <p:cNvPicPr preferRelativeResize="0"/>
          <p:nvPr/>
        </p:nvPicPr>
        <p:blipFill rotWithShape="1">
          <a:blip r:embed="rId3">
            <a:alphaModFix/>
          </a:blip>
          <a:srcRect b="93815" l="21488" r="8767" t="0"/>
          <a:stretch/>
        </p:blipFill>
        <p:spPr>
          <a:xfrm>
            <a:off x="508544" y="1367113"/>
            <a:ext cx="4163525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e9534f4755_0_0" title="WhatsApp Image 2026-05-17 at 4.14.08 PM.jpeg"/>
          <p:cNvPicPr preferRelativeResize="0"/>
          <p:nvPr/>
        </p:nvPicPr>
        <p:blipFill rotWithShape="1">
          <a:blip r:embed="rId4">
            <a:alphaModFix/>
          </a:blip>
          <a:srcRect b="0" l="0" r="8475" t="0"/>
          <a:stretch/>
        </p:blipFill>
        <p:spPr>
          <a:xfrm>
            <a:off x="66037" y="1371463"/>
            <a:ext cx="4531375" cy="31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e9534f4755_0_0"/>
          <p:cNvSpPr/>
          <p:nvPr/>
        </p:nvSpPr>
        <p:spPr>
          <a:xfrm>
            <a:off x="4788345" y="9144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SUPERVISED MODELS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9534f4755_0_0"/>
          <p:cNvSpPr/>
          <p:nvPr/>
        </p:nvSpPr>
        <p:spPr>
          <a:xfrm>
            <a:off x="4788345" y="1298448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9534f4755_0_0"/>
          <p:cNvSpPr/>
          <p:nvPr/>
        </p:nvSpPr>
        <p:spPr>
          <a:xfrm>
            <a:off x="4788345" y="1298448"/>
            <a:ext cx="109800" cy="822900"/>
          </a:xfrm>
          <a:prstGeom prst="rect">
            <a:avLst/>
          </a:prstGeom>
          <a:solidFill>
            <a:srgbClr val="607080"/>
          </a:solidFill>
          <a:ln cap="flat" cmpd="sng" w="12700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9534f4755_0_0"/>
          <p:cNvSpPr/>
          <p:nvPr/>
        </p:nvSpPr>
        <p:spPr>
          <a:xfrm>
            <a:off x="5016945" y="135331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9534f4755_0_0"/>
          <p:cNvSpPr/>
          <p:nvPr/>
        </p:nvSpPr>
        <p:spPr>
          <a:xfrm>
            <a:off x="5016945" y="164592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3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Linear model; misses complex attack patterns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e9534f4755_0_0"/>
          <p:cNvSpPr/>
          <p:nvPr/>
        </p:nvSpPr>
        <p:spPr>
          <a:xfrm>
            <a:off x="7714425" y="1344168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83.70%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9534f4755_0_0"/>
          <p:cNvSpPr/>
          <p:nvPr/>
        </p:nvSpPr>
        <p:spPr>
          <a:xfrm>
            <a:off x="4788345" y="2258568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9534f4755_0_0"/>
          <p:cNvSpPr/>
          <p:nvPr/>
        </p:nvSpPr>
        <p:spPr>
          <a:xfrm>
            <a:off x="4788345" y="2258568"/>
            <a:ext cx="109800" cy="8229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9534f4755_0_0"/>
          <p:cNvSpPr/>
          <p:nvPr/>
        </p:nvSpPr>
        <p:spPr>
          <a:xfrm>
            <a:off x="5016945" y="231343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9534f4755_0_0"/>
          <p:cNvSpPr/>
          <p:nvPr/>
        </p:nvSpPr>
        <p:spPr>
          <a:xfrm>
            <a:off x="5016945" y="260604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3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Fastest training; best speed-accuracy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e9534f4755_0_0"/>
          <p:cNvSpPr/>
          <p:nvPr/>
        </p:nvSpPr>
        <p:spPr>
          <a:xfrm>
            <a:off x="7714425" y="2304288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88.95%</a:t>
            </a:r>
            <a:endParaRPr sz="24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9534f4755_0_0"/>
          <p:cNvSpPr/>
          <p:nvPr/>
        </p:nvSpPr>
        <p:spPr>
          <a:xfrm>
            <a:off x="4788345" y="3218688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9534f4755_0_0"/>
          <p:cNvSpPr/>
          <p:nvPr/>
        </p:nvSpPr>
        <p:spPr>
          <a:xfrm>
            <a:off x="4788345" y="3218688"/>
            <a:ext cx="109800" cy="822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9534f4755_0_0"/>
          <p:cNvSpPr/>
          <p:nvPr/>
        </p:nvSpPr>
        <p:spPr>
          <a:xfrm>
            <a:off x="5016945" y="32735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e9534f4755_0_0"/>
          <p:cNvSpPr/>
          <p:nvPr/>
        </p:nvSpPr>
        <p:spPr>
          <a:xfrm>
            <a:off x="5016945" y="356616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3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Consistent across all 27 attack classes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e9534f4755_0_0"/>
          <p:cNvSpPr/>
          <p:nvPr/>
        </p:nvSpPr>
        <p:spPr>
          <a:xfrm>
            <a:off x="7714425" y="3264408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89.59%</a:t>
            </a:r>
            <a:endParaRPr sz="24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e9534f4755_0_0"/>
          <p:cNvSpPr/>
          <p:nvPr/>
        </p:nvSpPr>
        <p:spPr>
          <a:xfrm>
            <a:off x="4788345" y="4206240"/>
            <a:ext cx="4114800" cy="5028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9534f4755_0_0"/>
          <p:cNvSpPr/>
          <p:nvPr/>
        </p:nvSpPr>
        <p:spPr>
          <a:xfrm>
            <a:off x="4925505" y="4224528"/>
            <a:ext cx="3840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10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Final Approach: ( Random Forest ) leads for supervised due to its high accuracy and robust behavior across network classes.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9534f4755_0_58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9534f4755_0_58"/>
          <p:cNvSpPr/>
          <p:nvPr/>
        </p:nvSpPr>
        <p:spPr>
          <a:xfrm>
            <a:off x="365760" y="457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Accuracy Evaluation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9534f4755_0_58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9534f4755_0_58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9534f4755_0_58"/>
          <p:cNvSpPr/>
          <p:nvPr/>
        </p:nvSpPr>
        <p:spPr>
          <a:xfrm>
            <a:off x="4572000" y="4901184"/>
            <a:ext cx="429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9534f4755_0_58"/>
          <p:cNvSpPr/>
          <p:nvPr/>
        </p:nvSpPr>
        <p:spPr>
          <a:xfrm>
            <a:off x="4754930" y="93735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88E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0D7E88"/>
                </a:solidFill>
                <a:latin typeface="Calibri"/>
                <a:ea typeface="Calibri"/>
                <a:cs typeface="Calibri"/>
                <a:sym typeface="Calibri"/>
              </a:rPr>
              <a:t>UNSUPERVISED MODELS</a:t>
            </a:r>
            <a:endParaRPr>
              <a:solidFill>
                <a:srgbClr val="0D7E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9534f4755_0_58"/>
          <p:cNvSpPr/>
          <p:nvPr/>
        </p:nvSpPr>
        <p:spPr>
          <a:xfrm>
            <a:off x="4754930" y="1321398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9534f4755_0_58"/>
          <p:cNvSpPr/>
          <p:nvPr/>
        </p:nvSpPr>
        <p:spPr>
          <a:xfrm>
            <a:off x="4754930" y="1321398"/>
            <a:ext cx="109800" cy="822900"/>
          </a:xfrm>
          <a:prstGeom prst="rect">
            <a:avLst/>
          </a:prstGeom>
          <a:solidFill>
            <a:srgbClr val="607080"/>
          </a:solidFill>
          <a:ln cap="flat" cmpd="sng" w="12700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9534f4755_0_58"/>
          <p:cNvSpPr/>
          <p:nvPr/>
        </p:nvSpPr>
        <p:spPr>
          <a:xfrm>
            <a:off x="4983530" y="137626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Local Outlier Factor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9534f4755_0_58"/>
          <p:cNvSpPr/>
          <p:nvPr/>
        </p:nvSpPr>
        <p:spPr>
          <a:xfrm>
            <a:off x="4983530" y="166887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3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Density-based; flags flows far from normal clusters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9534f4755_0_58"/>
          <p:cNvSpPr/>
          <p:nvPr/>
        </p:nvSpPr>
        <p:spPr>
          <a:xfrm>
            <a:off x="7681010" y="1367118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49.3%</a:t>
            </a:r>
            <a:endParaRPr sz="24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9534f4755_0_58"/>
          <p:cNvSpPr/>
          <p:nvPr/>
        </p:nvSpPr>
        <p:spPr>
          <a:xfrm>
            <a:off x="4754930" y="2281518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9534f4755_0_58"/>
          <p:cNvSpPr/>
          <p:nvPr/>
        </p:nvSpPr>
        <p:spPr>
          <a:xfrm>
            <a:off x="4754930" y="2281518"/>
            <a:ext cx="109800" cy="8229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9534f4755_0_58"/>
          <p:cNvSpPr/>
          <p:nvPr/>
        </p:nvSpPr>
        <p:spPr>
          <a:xfrm>
            <a:off x="4983530" y="233638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Isolation Forest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9534f4755_0_58"/>
          <p:cNvSpPr/>
          <p:nvPr/>
        </p:nvSpPr>
        <p:spPr>
          <a:xfrm>
            <a:off x="4983530" y="262899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Fast anomaly detection, effective for high-volume data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9534f4755_0_58"/>
          <p:cNvSpPr/>
          <p:nvPr/>
        </p:nvSpPr>
        <p:spPr>
          <a:xfrm>
            <a:off x="7681010" y="2327238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55.2%</a:t>
            </a:r>
            <a:endParaRPr sz="24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9534f4755_0_58"/>
          <p:cNvSpPr/>
          <p:nvPr/>
        </p:nvSpPr>
        <p:spPr>
          <a:xfrm>
            <a:off x="4754930" y="3241638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9534f4755_0_58"/>
          <p:cNvSpPr/>
          <p:nvPr/>
        </p:nvSpPr>
        <p:spPr>
          <a:xfrm>
            <a:off x="4754930" y="3241638"/>
            <a:ext cx="109800" cy="822900"/>
          </a:xfrm>
          <a:prstGeom prst="rect">
            <a:avLst/>
          </a:prstGeom>
          <a:solidFill>
            <a:srgbClr val="0D7E88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9534f4755_0_58"/>
          <p:cNvSpPr/>
          <p:nvPr/>
        </p:nvSpPr>
        <p:spPr>
          <a:xfrm>
            <a:off x="4983530" y="329650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One-Class SVM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9534f4755_0_58"/>
          <p:cNvSpPr/>
          <p:nvPr/>
        </p:nvSpPr>
        <p:spPr>
          <a:xfrm>
            <a:off x="4983530" y="358911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3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Learns boundary around normal traffic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e9534f4755_0_58"/>
          <p:cNvSpPr/>
          <p:nvPr/>
        </p:nvSpPr>
        <p:spPr>
          <a:xfrm>
            <a:off x="7681010" y="3287358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88E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56.7%</a:t>
            </a:r>
            <a:endParaRPr sz="24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9534f4755_0_58"/>
          <p:cNvSpPr/>
          <p:nvPr/>
        </p:nvSpPr>
        <p:spPr>
          <a:xfrm>
            <a:off x="4754930" y="4229190"/>
            <a:ext cx="4114800" cy="5028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9534f4755_0_58"/>
          <p:cNvSpPr/>
          <p:nvPr/>
        </p:nvSpPr>
        <p:spPr>
          <a:xfrm>
            <a:off x="4755000" y="4247475"/>
            <a:ext cx="411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88E"/>
              </a:buClr>
              <a:buSzPts val="950"/>
              <a:buFont typeface="Calibri"/>
              <a:buNone/>
            </a:pPr>
            <a:r>
              <a:rPr lang="en-US" sz="1050">
                <a:solidFill>
                  <a:srgbClr val="14A88E"/>
                </a:solidFill>
                <a:latin typeface="Calibri"/>
                <a:ea typeface="Calibri"/>
                <a:cs typeface="Calibri"/>
                <a:sym typeface="Calibri"/>
              </a:rPr>
              <a:t>Final Approach: ( Isolation Forest ) for unsupervised due to its fast and effective anomaly detection in high-volume, unknown attack scenarios.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9534f4755_0_58"/>
          <p:cNvSpPr/>
          <p:nvPr/>
        </p:nvSpPr>
        <p:spPr>
          <a:xfrm>
            <a:off x="340255" y="9540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88E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0D7E88"/>
                </a:solidFill>
                <a:latin typeface="Calibri"/>
                <a:ea typeface="Calibri"/>
                <a:cs typeface="Calibri"/>
                <a:sym typeface="Calibri"/>
              </a:rPr>
              <a:t>UNSUPERVISED MODELS</a:t>
            </a:r>
            <a:endParaRPr>
              <a:solidFill>
                <a:srgbClr val="0D7E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g3e9534f4755_0_58" title="unsupervised_models_comparison (1).png"/>
          <p:cNvPicPr preferRelativeResize="0"/>
          <p:nvPr/>
        </p:nvPicPr>
        <p:blipFill rotWithShape="1">
          <a:blip r:embed="rId3">
            <a:alphaModFix/>
          </a:blip>
          <a:srcRect b="0" l="0" r="24018" t="0"/>
          <a:stretch/>
        </p:blipFill>
        <p:spPr>
          <a:xfrm>
            <a:off x="74000" y="1319200"/>
            <a:ext cx="4414848" cy="335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Rule-Based Labeling &amp; UI Design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274320" y="960120"/>
            <a:ext cx="50292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274320" y="960120"/>
            <a:ext cx="5029200" cy="38404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411480" y="9784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Rule-Based Labeling Engine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365760" y="1463040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411480" y="14630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Heartbleed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2331720" y="14630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ACK Flag Count &gt; 4000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365760" y="1810512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411480" y="18105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FTP/SSH Patator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2331720" y="18105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Avg Pkt Size &gt; 5, Dst Port = 21 or 22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365760" y="2157984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5"/>
          <p:cNvSpPr/>
          <p:nvPr/>
        </p:nvSpPr>
        <p:spPr>
          <a:xfrm>
            <a:off x="411480" y="21579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Portscan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2331720" y="215798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Avg Pkt Size ≤ 5, Fwd Packets/s &gt; 10,000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365760" y="2505456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411480" y="25054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DoS Hulk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2331720" y="250545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Avg Pkt Size &gt; 600, Bwd Pkt Std &gt; 1500, IAT &lt; 500K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365760" y="2852928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411480" y="2852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DDoS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2331720" y="285292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Avg Pkt Size &gt; 600, Bwd Pkt Std &gt; 3000, IAT ≥ 500K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365760" y="3200400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411480" y="32004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Botnet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2331720" y="32004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Avg Pkt Size &gt; 5, Dst Port = 8080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365760" y="3547872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411480" y="35478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Web Attacks (XSS)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2331720" y="35478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Avg Pkt Size varies, Dst Port 80/443, ACK Flag &gt;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365760" y="3895344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411480" y="38953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DoS Slowloris/Slowhttp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2331720" y="389534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Bwd Pkt Std = 0, IAT &gt; 40M–80M range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365760" y="4242816"/>
            <a:ext cx="1920240" cy="2560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"/>
          <p:cNvSpPr/>
          <p:nvPr/>
        </p:nvSpPr>
        <p:spPr>
          <a:xfrm>
            <a:off x="411480" y="424281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Infiltration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2331720" y="424281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Avg Pkt Size &gt;5,  Bwd Pkt Std = 0, IAT &gt; 20M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5577840" y="960120"/>
            <a:ext cx="32918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5577840" y="960120"/>
            <a:ext cx="3291840" cy="384048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5715000" y="97840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Design - Figma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5669280" y="146304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▸  Dashboard Layout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5669280" y="1673352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Designed full network monitoring UI in Figma with classification panels for all 4 labels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5669280" y="2075688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▸  Flow 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5669280" y="2286000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Real-time flow table showing source/destination IPs, ports, protocol, and label assigned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5669280" y="2688336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▸  Label 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5669280" y="2898648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Separate tabs for Normal, Suspicious and Attack-like categories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5669280" y="3300984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▸  Visual Stats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5669280" y="3511296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Charts and counters for traffic distribution and classification breakdown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5669280" y="3913632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▸  Prototype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5669280" y="4123944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 complete</a:t>
            </a:r>
            <a:r>
              <a:rPr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interactive prototype ready for frontend implementation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System &amp; UI Integration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274320" y="960120"/>
            <a:ext cx="8595300" cy="1188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D5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ARCHITECTURAL FLOW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57200" y="1298448"/>
            <a:ext cx="1188720" cy="6400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457200" y="1298450"/>
            <a:ext cx="118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Traffic</a:t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1645920" y="1600200"/>
            <a:ext cx="228600" cy="36576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1874520" y="1298448"/>
            <a:ext cx="1188720" cy="6400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1874525" y="1298450"/>
            <a:ext cx="116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3063240" y="1600200"/>
            <a:ext cx="228600" cy="36576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3291840" y="1298448"/>
            <a:ext cx="1188720" cy="6400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3291850" y="1298450"/>
            <a:ext cx="118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Rule-Based</a:t>
            </a:r>
            <a:endParaRPr b="1"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1"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4480560" y="1600200"/>
            <a:ext cx="228600" cy="36576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4709160" y="1298448"/>
            <a:ext cx="1188720" cy="6400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4709150" y="1298450"/>
            <a:ext cx="118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Supervised</a:t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5897880" y="1600200"/>
            <a:ext cx="228600" cy="36576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6126480" y="1298448"/>
            <a:ext cx="1188720" cy="6400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6126475" y="1298450"/>
            <a:ext cx="116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b="1"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b="1"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315200" y="1600200"/>
            <a:ext cx="228600" cy="36576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7543800" y="1298448"/>
            <a:ext cx="1188720" cy="64008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7543800" y="1298448"/>
            <a:ext cx="1188600" cy="640200"/>
          </a:xfrm>
          <a:prstGeom prst="rect">
            <a:avLst/>
          </a:prstGeom>
          <a:noFill/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Alerts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274320" y="233172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274320" y="2331720"/>
            <a:ext cx="109728" cy="10515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"/>
          <p:cNvSpPr/>
          <p:nvPr/>
        </p:nvSpPr>
        <p:spPr>
          <a:xfrm>
            <a:off x="502920" y="2423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Real-Time Dashboard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502920" y="2715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Live classification dashboard showing incoming flow classifications with breakdown by label category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4709160" y="233172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"/>
          <p:cNvSpPr/>
          <p:nvPr/>
        </p:nvSpPr>
        <p:spPr>
          <a:xfrm>
            <a:off x="4709160" y="2331720"/>
            <a:ext cx="109728" cy="10515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4937760" y="2423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Heuristic Accuracy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4937760" y="2715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Rule-based engine validated - high accuracy for known attack patterns using packet size, flags, and port indicators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274320" y="352044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"/>
          <p:cNvSpPr/>
          <p:nvPr/>
        </p:nvSpPr>
        <p:spPr>
          <a:xfrm>
            <a:off x="274320" y="3520440"/>
            <a:ext cx="109728" cy="10515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6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Individual Class Tabs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502920" y="390448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Separate dashboard tabs for Normal, Suspicious, Misconfigured, and Attack-like flows for targeted analyst 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4709160" y="352044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6"/>
          <p:cNvSpPr/>
          <p:nvPr/>
        </p:nvSpPr>
        <p:spPr>
          <a:xfrm>
            <a:off x="4709160" y="3520440"/>
            <a:ext cx="109728" cy="10515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"/>
          <p:cNvSpPr/>
          <p:nvPr/>
        </p:nvSpPr>
        <p:spPr>
          <a:xfrm>
            <a:off x="4937760" y="36118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UI Integration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4937760" y="390448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Backend ML model integrated with React frontend - flows classified in near-real-time and rendered on the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Traffic Capture &amp; Classification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502920" y="1005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251450" y="1139350"/>
            <a:ext cx="4160400" cy="132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251460" y="1125838"/>
            <a:ext cx="4160400" cy="3840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365760" y="116099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Traffic Capture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274320" y="1568196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Integrated live packet capture directly into the system. Network flows captured in real time are processed through the feature extraction pipeline and fed to the ML classifier.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4709160" y="1143000"/>
            <a:ext cx="41605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4709160" y="1124712"/>
            <a:ext cx="4160520" cy="38404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A5F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4846320" y="116890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Suspicious Category Detection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4732022" y="1591056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Live dashboard successfully captures and displays Suspicious category flows - including port scans and reconnaissance traffic - with real-time label assignment.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251460" y="2811780"/>
            <a:ext cx="41605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251460" y="2830068"/>
            <a:ext cx="4160520" cy="38404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365760" y="288645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 Reasoning Engine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274320" y="3301746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Implemented label reasoning feature: for each classified flow, the dashboard shows the specific features (packet size, flags, ports) that triggered the classification decision.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4709160" y="2811780"/>
            <a:ext cx="41605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4732020" y="2825496"/>
            <a:ext cx="4160520" cy="38404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4846320" y="287121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Architectural Update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4732022" y="3301746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Updated system architecture to include a live capture module feeding into the processing pipeline - bridging the gap between static CSV-based testing and real network environments.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e2afc5460a_1_120"/>
          <p:cNvPicPr preferRelativeResize="0"/>
          <p:nvPr/>
        </p:nvPicPr>
        <p:blipFill rotWithShape="1">
          <a:blip r:embed="rId3">
            <a:alphaModFix/>
          </a:blip>
          <a:srcRect b="21189" l="12990" r="13825" t="20489"/>
          <a:stretch/>
        </p:blipFill>
        <p:spPr>
          <a:xfrm>
            <a:off x="150800" y="947900"/>
            <a:ext cx="8515994" cy="380391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e2afc5460a_1_12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2afc5460a_1_120"/>
          <p:cNvSpPr/>
          <p:nvPr/>
        </p:nvSpPr>
        <p:spPr>
          <a:xfrm>
            <a:off x="365760" y="457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Architectural Flow Diagram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2afc5460a_1_120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2afc5460a_1_120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 Detection &amp; Live Flow Testing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57200" y="98755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274320" y="1133856"/>
            <a:ext cx="8595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274320" y="1141476"/>
            <a:ext cx="640080" cy="914400"/>
          </a:xfrm>
          <a:prstGeom prst="rect">
            <a:avLst/>
          </a:prstGeom>
          <a:solidFill>
            <a:srgbClr val="45818E"/>
          </a:solidFill>
          <a:ln cap="flat" cmpd="sng" w="12700">
            <a:solidFill>
              <a:srgbClr val="0A5F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274325" y="1236950"/>
            <a:ext cx="640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051560" y="12984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Synthetic Flows</a:t>
            </a: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Simulation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1051560" y="158125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Method: Known attack synthetic flows randomly simulated with the actual real-time flows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5349240" y="1245108"/>
            <a:ext cx="3337560" cy="7132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0A5F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5486400" y="1266444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Attack-Like labels immediately reflected on the live dashboard, validated end-to-end pipeline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274320" y="2350008"/>
            <a:ext cx="8595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274320" y="2357628"/>
            <a:ext cx="640080" cy="914400"/>
          </a:xfrm>
          <a:prstGeom prst="rect">
            <a:avLst/>
          </a:prstGeom>
          <a:solidFill>
            <a:srgbClr val="45818E"/>
          </a:solidFill>
          <a:ln cap="flat" cmpd="sng" w="12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274325" y="2368300"/>
            <a:ext cx="64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1051560" y="24765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Nmap Reconnaissance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1051560" y="278739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Method: Used Nmap security scanner to perform port scanning and network reconnaissance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5349240" y="2459736"/>
            <a:ext cx="3337560" cy="7132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5486400" y="2490216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Flows captured as Suspicious/Attack-like on the </a:t>
            </a:r>
            <a:r>
              <a:rPr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dashboard, confirmed</a:t>
            </a:r>
            <a:r>
              <a:rPr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 real traffic classification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274320" y="3592068"/>
            <a:ext cx="8595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8"/>
          <p:cNvSpPr/>
          <p:nvPr/>
        </p:nvSpPr>
        <p:spPr>
          <a:xfrm>
            <a:off x="274320" y="3599688"/>
            <a:ext cx="640080" cy="914400"/>
          </a:xfrm>
          <a:prstGeom prst="rect">
            <a:avLst/>
          </a:prstGeom>
          <a:solidFill>
            <a:srgbClr val="45818E"/>
          </a:solidFill>
          <a:ln cap="flat" cmpd="sng" w="12700">
            <a:solidFill>
              <a:srgbClr val="0A5F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274325" y="3584450"/>
            <a:ext cx="64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1051560" y="37048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hping3 Flood Attack (Ubuntu VM)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1051560" y="40248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Method: Ran hping3 SYN flood from VirtualBox Ubuntu VM targeting the Windows host IP address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5349240" y="3683508"/>
            <a:ext cx="3337560" cy="713232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0A5F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8"/>
          <p:cNvSpPr/>
          <p:nvPr/>
        </p:nvSpPr>
        <p:spPr>
          <a:xfrm>
            <a:off x="5486400" y="3712464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SYN flood successfully detected and classified as Suspicious on the live monitoring dashboard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411480" y="4663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9534f4755_0_5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e9534f4755_0_50"/>
          <p:cNvSpPr/>
          <p:nvPr/>
        </p:nvSpPr>
        <p:spPr>
          <a:xfrm>
            <a:off x="365760" y="457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UI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9534f4755_0_50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e9534f4755_0_50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g3e9534f4755_0_50" title="Screenshot 2026-04-14 0225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50" y="870575"/>
            <a:ext cx="7909449" cy="39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e9534f4755_0_50" title="IMG-20260518-WA0001.jpg.jpeg"/>
          <p:cNvPicPr preferRelativeResize="0"/>
          <p:nvPr/>
        </p:nvPicPr>
        <p:blipFill rotWithShape="1">
          <a:blip r:embed="rId4">
            <a:alphaModFix/>
          </a:blip>
          <a:srcRect b="6163" l="0" r="1468" t="7399"/>
          <a:stretch/>
        </p:blipFill>
        <p:spPr>
          <a:xfrm>
            <a:off x="333200" y="870575"/>
            <a:ext cx="8460524" cy="397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&amp; Progress Overview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2554174" y="955520"/>
            <a:ext cx="1298400" cy="8688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2554174" y="1001240"/>
            <a:ext cx="1298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89.6%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2554174" y="1433294"/>
            <a:ext cx="129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3998926" y="955520"/>
            <a:ext cx="1298400" cy="8688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3998926" y="1001240"/>
            <a:ext cx="1298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3998926" y="1433294"/>
            <a:ext cx="129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 Classes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5443678" y="955520"/>
            <a:ext cx="1298400" cy="8688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5443678" y="1001240"/>
            <a:ext cx="1298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5443678" y="1433294"/>
            <a:ext cx="129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6888430" y="955520"/>
            <a:ext cx="1298400" cy="8688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6888430" y="1001240"/>
            <a:ext cx="1298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6888430" y="1433294"/>
            <a:ext cx="129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Attack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274320" y="1993392"/>
            <a:ext cx="502920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274320" y="19933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841248" y="2057400"/>
            <a:ext cx="1371600" cy="2286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EB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868680" y="1993392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2286000" y="1993392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CICIDS2017 dataset: 16M+ flows, 80+ features, benchmark imported from Kaggle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475488" y="2313432"/>
            <a:ext cx="36576" cy="82296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274320" y="2395728"/>
            <a:ext cx="502920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274320" y="239572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841248" y="2459736"/>
            <a:ext cx="1371600" cy="2286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EB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9"/>
          <p:cNvSpPr/>
          <p:nvPr/>
        </p:nvSpPr>
        <p:spPr>
          <a:xfrm>
            <a:off x="868680" y="2395728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Label Design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2286000" y="2395728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Mapped 27 attack classes to 4 labels; designed Misconfigured sub-types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475488" y="2715768"/>
            <a:ext cx="36576" cy="82296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274320" y="2798064"/>
            <a:ext cx="502920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9"/>
          <p:cNvSpPr/>
          <p:nvPr/>
        </p:nvSpPr>
        <p:spPr>
          <a:xfrm>
            <a:off x="274320" y="279806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841248" y="2862072"/>
            <a:ext cx="1371600" cy="2286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EB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9"/>
          <p:cNvSpPr/>
          <p:nvPr/>
        </p:nvSpPr>
        <p:spPr>
          <a:xfrm>
            <a:off x="868680" y="279806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2286000" y="2798064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Hybrid Random Forest (supervised) +  Isolation Forest (unsupervised approach) for robust classification and anomaly detection.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475488" y="3118104"/>
            <a:ext cx="36576" cy="82296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9"/>
          <p:cNvSpPr/>
          <p:nvPr/>
        </p:nvSpPr>
        <p:spPr>
          <a:xfrm>
            <a:off x="274320" y="3200400"/>
            <a:ext cx="502920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9"/>
          <p:cNvSpPr/>
          <p:nvPr/>
        </p:nvSpPr>
        <p:spPr>
          <a:xfrm>
            <a:off x="274320" y="320040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841248" y="3264408"/>
            <a:ext cx="1371600" cy="2286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EB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868680" y="320040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Rule-Based Engine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2286000" y="3200400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Heuristic rules for 20+ attack subtypes; Figma UI prototype designed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475488" y="3520440"/>
            <a:ext cx="36576" cy="82296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9"/>
          <p:cNvSpPr/>
          <p:nvPr/>
        </p:nvSpPr>
        <p:spPr>
          <a:xfrm>
            <a:off x="274320" y="3602736"/>
            <a:ext cx="502920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/>
          <p:nvPr/>
        </p:nvSpPr>
        <p:spPr>
          <a:xfrm>
            <a:off x="274320" y="360273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841248" y="3666744"/>
            <a:ext cx="1371600" cy="2286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EB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9"/>
          <p:cNvSpPr/>
          <p:nvPr/>
        </p:nvSpPr>
        <p:spPr>
          <a:xfrm>
            <a:off x="868680" y="3602736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Hybrid 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2286000" y="3602736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Integrated ML + rule engine; full dashboard UI implemented and connected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475488" y="3922776"/>
            <a:ext cx="36576" cy="82296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9"/>
          <p:cNvSpPr/>
          <p:nvPr/>
        </p:nvSpPr>
        <p:spPr>
          <a:xfrm>
            <a:off x="274320" y="4005072"/>
            <a:ext cx="502920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9"/>
          <p:cNvSpPr/>
          <p:nvPr/>
        </p:nvSpPr>
        <p:spPr>
          <a:xfrm>
            <a:off x="274320" y="400507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841248" y="4069080"/>
            <a:ext cx="1371600" cy="2286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EB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868680" y="4005072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Live Capture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2286000" y="4005072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Real-time packet capture pipeline; label reasoning feature implemented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475488" y="4325112"/>
            <a:ext cx="36576" cy="82296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274320" y="4407408"/>
            <a:ext cx="502920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274320" y="440740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841248" y="4471416"/>
            <a:ext cx="1371600" cy="228600"/>
          </a:xfrm>
          <a:prstGeom prst="rect">
            <a:avLst/>
          </a:prstGeom>
          <a:solidFill>
            <a:srgbClr val="EBF5F4"/>
          </a:solidFill>
          <a:ln cap="flat" cmpd="sng" w="12700">
            <a:solidFill>
              <a:srgbClr val="EB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868680" y="4407408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Attack Testing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2286000" y="4407408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Validated with Synthetic flows simulation, Nmap scans, and hping3 SYN flood from Ubuntu VM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457200" y="46908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1046120" y="946333"/>
            <a:ext cx="1298400" cy="8688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1046120" y="992053"/>
            <a:ext cx="1298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16M+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1046120" y="1424106"/>
            <a:ext cx="129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2afc5460a_2_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e2afc5460a_2_0"/>
          <p:cNvSpPr/>
          <p:nvPr/>
        </p:nvSpPr>
        <p:spPr>
          <a:xfrm>
            <a:off x="365760" y="457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Upcoming updates &amp; Future Scope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2afc5460a_2_0"/>
          <p:cNvSpPr/>
          <p:nvPr/>
        </p:nvSpPr>
        <p:spPr>
          <a:xfrm>
            <a:off x="3738491" y="1382989"/>
            <a:ext cx="1709700" cy="1143900"/>
          </a:xfrm>
          <a:prstGeom prst="rect">
            <a:avLst/>
          </a:prstGeom>
          <a:solidFill>
            <a:srgbClr val="14A88E"/>
          </a:solidFill>
          <a:ln cap="flat" cmpd="sng" w="16725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  <a:effectLst>
            <a:outerShdw blurRad="133778" rotWithShape="0" algn="bl" dir="8100000" dist="50167">
              <a:srgbClr val="000000">
                <a:alpha val="10200"/>
              </a:srgbClr>
            </a:outerShdw>
          </a:effectLst>
        </p:spPr>
        <p:txBody>
          <a:bodyPr anchorCtr="0" anchor="ctr" bIns="120375" lIns="120375" spcFirstLastPara="1" rIns="120375" wrap="square" tIns="12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3"/>
          </a:p>
        </p:txBody>
      </p:sp>
      <p:sp>
        <p:nvSpPr>
          <p:cNvPr id="515" name="Google Shape;515;g3e2afc5460a_2_0"/>
          <p:cNvSpPr/>
          <p:nvPr/>
        </p:nvSpPr>
        <p:spPr>
          <a:xfrm>
            <a:off x="0" y="4892040"/>
            <a:ext cx="9144000" cy="255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2afc5460a_2_0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Mid Review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e2afc5460a_2_0"/>
          <p:cNvSpPr/>
          <p:nvPr/>
        </p:nvSpPr>
        <p:spPr>
          <a:xfrm>
            <a:off x="4572000" y="4901184"/>
            <a:ext cx="429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e2afc5460a_2_0"/>
          <p:cNvSpPr/>
          <p:nvPr/>
        </p:nvSpPr>
        <p:spPr>
          <a:xfrm>
            <a:off x="1264510" y="2909654"/>
            <a:ext cx="1709700" cy="1143900"/>
          </a:xfrm>
          <a:prstGeom prst="rect">
            <a:avLst/>
          </a:prstGeom>
          <a:solidFill>
            <a:srgbClr val="0D7377"/>
          </a:solidFill>
          <a:ln cap="flat" cmpd="sng" w="167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33778" rotWithShape="0" algn="bl" dir="8100000" dist="50167">
              <a:srgbClr val="000000">
                <a:alpha val="10200"/>
              </a:srgbClr>
            </a:outerShdw>
          </a:effectLst>
        </p:spPr>
        <p:txBody>
          <a:bodyPr anchorCtr="0" anchor="ctr" bIns="120375" lIns="120375" spcFirstLastPara="1" rIns="120375" wrap="square" tIns="12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3"/>
          </a:p>
        </p:txBody>
      </p:sp>
      <p:sp>
        <p:nvSpPr>
          <p:cNvPr id="519" name="Google Shape;519;g3e2afc5460a_2_0"/>
          <p:cNvSpPr/>
          <p:nvPr/>
        </p:nvSpPr>
        <p:spPr>
          <a:xfrm>
            <a:off x="6136769" y="2909651"/>
            <a:ext cx="1709700" cy="1143900"/>
          </a:xfrm>
          <a:prstGeom prst="rect">
            <a:avLst/>
          </a:prstGeom>
          <a:solidFill>
            <a:srgbClr val="0D7377"/>
          </a:solidFill>
          <a:ln cap="flat" cmpd="sng" w="167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33778" rotWithShape="0" algn="bl" dir="8100000" dist="50167">
              <a:srgbClr val="000000">
                <a:alpha val="10200"/>
              </a:srgbClr>
            </a:outerShdw>
          </a:effectLst>
        </p:spPr>
        <p:txBody>
          <a:bodyPr anchorCtr="0" anchor="ctr" bIns="120375" lIns="120375" spcFirstLastPara="1" rIns="120375" wrap="square" tIns="12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3"/>
          </a:p>
        </p:txBody>
      </p:sp>
      <p:sp>
        <p:nvSpPr>
          <p:cNvPr id="520" name="Google Shape;520;g3e2afc5460a_2_0"/>
          <p:cNvSpPr/>
          <p:nvPr/>
        </p:nvSpPr>
        <p:spPr>
          <a:xfrm>
            <a:off x="4058852" y="1816424"/>
            <a:ext cx="10923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20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Telemetry</a:t>
            </a:r>
            <a:endParaRPr sz="2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e2afc5460a_2_0"/>
          <p:cNvSpPr/>
          <p:nvPr/>
        </p:nvSpPr>
        <p:spPr>
          <a:xfrm>
            <a:off x="6136756" y="1395103"/>
            <a:ext cx="1709700" cy="1143900"/>
          </a:xfrm>
          <a:prstGeom prst="rect">
            <a:avLst/>
          </a:prstGeom>
          <a:solidFill>
            <a:srgbClr val="0D7377"/>
          </a:solidFill>
          <a:ln cap="flat" cmpd="sng" w="16725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  <a:effectLst>
            <a:outerShdw blurRad="133778" rotWithShape="0" algn="bl" dir="8100000" dist="50167">
              <a:srgbClr val="000000">
                <a:alpha val="10200"/>
              </a:srgbClr>
            </a:outerShdw>
          </a:effectLst>
        </p:spPr>
        <p:txBody>
          <a:bodyPr anchorCtr="0" anchor="ctr" bIns="120375" lIns="120375" spcFirstLastPara="1" rIns="120375" wrap="square" tIns="12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3"/>
          </a:p>
        </p:txBody>
      </p:sp>
      <p:sp>
        <p:nvSpPr>
          <p:cNvPr id="522" name="Google Shape;522;g3e2afc5460a_2_0"/>
          <p:cNvSpPr/>
          <p:nvPr/>
        </p:nvSpPr>
        <p:spPr>
          <a:xfrm>
            <a:off x="6088562" y="1533905"/>
            <a:ext cx="1806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84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endParaRPr sz="184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84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84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84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84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e2afc5460a_2_0"/>
          <p:cNvSpPr/>
          <p:nvPr/>
        </p:nvSpPr>
        <p:spPr>
          <a:xfrm>
            <a:off x="1264500" y="3156379"/>
            <a:ext cx="16500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90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sz="190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90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Packaging</a:t>
            </a:r>
            <a:endParaRPr sz="190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e2afc5460a_2_0"/>
          <p:cNvSpPr/>
          <p:nvPr/>
        </p:nvSpPr>
        <p:spPr>
          <a:xfrm>
            <a:off x="1261076" y="1383006"/>
            <a:ext cx="1709700" cy="1143900"/>
          </a:xfrm>
          <a:prstGeom prst="rect">
            <a:avLst/>
          </a:prstGeom>
          <a:solidFill>
            <a:srgbClr val="0D7377"/>
          </a:solidFill>
          <a:ln cap="flat" cmpd="sng" w="167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33778" rotWithShape="0" algn="bl" dir="8100000" dist="50167">
              <a:srgbClr val="000000">
                <a:alpha val="10200"/>
              </a:srgbClr>
            </a:outerShdw>
          </a:effectLst>
        </p:spPr>
        <p:txBody>
          <a:bodyPr anchorCtr="0" anchor="ctr" bIns="120375" lIns="120375" spcFirstLastPara="1" rIns="120375" wrap="square" tIns="12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e2afc5460a_2_0"/>
          <p:cNvSpPr/>
          <p:nvPr/>
        </p:nvSpPr>
        <p:spPr>
          <a:xfrm>
            <a:off x="1249552" y="1515591"/>
            <a:ext cx="17097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84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Metrics &amp;</a:t>
            </a:r>
            <a:endParaRPr sz="184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84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 Components</a:t>
            </a:r>
            <a:endParaRPr sz="184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e2afc5460a_2_0"/>
          <p:cNvSpPr/>
          <p:nvPr/>
        </p:nvSpPr>
        <p:spPr>
          <a:xfrm>
            <a:off x="3740202" y="2909651"/>
            <a:ext cx="1709700" cy="1143900"/>
          </a:xfrm>
          <a:prstGeom prst="rect">
            <a:avLst/>
          </a:prstGeom>
          <a:solidFill>
            <a:srgbClr val="14A88E"/>
          </a:solidFill>
          <a:ln cap="flat" cmpd="sng" w="16725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  <a:effectLst>
            <a:outerShdw blurRad="133778" rotWithShape="0" algn="bl" dir="8100000" dist="50167">
              <a:srgbClr val="000000">
                <a:alpha val="10200"/>
              </a:srgbClr>
            </a:outerShdw>
          </a:effectLst>
        </p:spPr>
        <p:txBody>
          <a:bodyPr anchorCtr="0" anchor="ctr" bIns="120375" lIns="120375" spcFirstLastPara="1" rIns="120375" wrap="square" tIns="12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3"/>
          </a:p>
        </p:txBody>
      </p:sp>
      <p:sp>
        <p:nvSpPr>
          <p:cNvPr id="527" name="Google Shape;527;g3e2afc5460a_2_0"/>
          <p:cNvSpPr/>
          <p:nvPr/>
        </p:nvSpPr>
        <p:spPr>
          <a:xfrm>
            <a:off x="3733874" y="3166326"/>
            <a:ext cx="17097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Uploaded File</a:t>
            </a:r>
            <a:endParaRPr sz="1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e2afc5460a_2_0"/>
          <p:cNvSpPr/>
          <p:nvPr/>
        </p:nvSpPr>
        <p:spPr>
          <a:xfrm>
            <a:off x="6136753" y="3163399"/>
            <a:ext cx="17097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sz="197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7"/>
              <a:buFont typeface="Calibri"/>
              <a:buNone/>
            </a:pPr>
            <a:r>
              <a:rPr lang="en-US" sz="1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sz="197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2026-04-22T15:36:46Z</dcterms:created>
  <dc:creator>PptxGenJS</dc:creator>
</cp:coreProperties>
</file>