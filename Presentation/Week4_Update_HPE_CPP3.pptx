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949B2D-0470-4982-8F85-CF396ADB93D1}">
  <a:tblStyle styleId="{CE949B2D-0470-4982-8F85-CF396ADB93D1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0" y="73152"/>
            <a:ext cx="164700" cy="50703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2423160"/>
            <a:ext cx="5486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B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A9B5"/>
                </a:solidFill>
                <a:latin typeface="Calibri"/>
                <a:ea typeface="Calibri"/>
                <a:cs typeface="Calibri"/>
                <a:sym typeface="Calibri"/>
              </a:rPr>
              <a:t>Model Training &amp; Frontend Development</a:t>
            </a:r>
            <a:endParaRPr b="0" i="0" sz="2000" u="none" cap="none" strike="noStrike">
              <a:solidFill>
                <a:srgbClr val="0D94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2880360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Week 4 Progress Update</a:t>
            </a:r>
            <a:endParaRPr b="0" i="0" sz="14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492240" y="1005840"/>
            <a:ext cx="2469000" cy="2926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629400" y="1188720"/>
            <a:ext cx="219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Mentor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629400" y="1426464"/>
            <a:ext cx="219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Jayachandra 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629400" y="1847088"/>
            <a:ext cx="219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Manager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629400" y="2084832"/>
            <a:ext cx="219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Saikat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6629400" y="2505456"/>
            <a:ext cx="219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College Mentor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629400" y="2743200"/>
            <a:ext cx="219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Priyanka Mitra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629400" y="3163824"/>
            <a:ext cx="219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Program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6629400" y="3401568"/>
            <a:ext cx="219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HPE CPP3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274320" y="4846320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Hewlett Packard Enterprise  |  March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385762" y="1769495"/>
            <a:ext cx="5943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30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Flow Behaviour Profiling</a:t>
            </a:r>
            <a:endParaRPr b="1" sz="4000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462501" y="2286538"/>
            <a:ext cx="3858300" cy="27000"/>
          </a:xfrm>
          <a:prstGeom prst="rect">
            <a:avLst/>
          </a:prstGeom>
          <a:solidFill>
            <a:srgbClr val="14A88E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0" y="73152"/>
            <a:ext cx="164700" cy="50703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18501" y="4881363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HPE CPP3  |  Week 4 Update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274320" y="756876"/>
            <a:ext cx="3931800" cy="54900"/>
          </a:xfrm>
          <a:prstGeom prst="rect">
            <a:avLst/>
          </a:prstGeom>
          <a:solidFill>
            <a:srgbClr val="007C8A"/>
          </a:solidFill>
          <a:ln cap="flat" cmpd="sng" w="12700">
            <a:solidFill>
              <a:srgbClr val="007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11480" y="1466823"/>
            <a:ext cx="3657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365710" y="105175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Rule Based Labeling</a:t>
            </a:r>
            <a:endParaRPr b="0" i="0" sz="22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" name="Google Shape;45;p4"/>
          <p:cNvGraphicFramePr/>
          <p:nvPr/>
        </p:nvGraphicFramePr>
        <p:xfrm>
          <a:off x="274320" y="87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{CE949B2D-0470-4982-8F85-CF396ADB93D1}</a:tableStyleId>
              </a:tblPr>
              <a:tblGrid>
                <a:gridCol w="3200000"/>
                <a:gridCol w="5395475"/>
              </a:tblGrid>
              <a:tr h="307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Label</a:t>
                      </a:r>
                      <a:endParaRPr sz="13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2925" marB="42925" marR="85850" marL="85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Dataset Parameters Used</a:t>
                      </a:r>
                      <a:endParaRPr sz="1400" u="none" cap="none" strike="noStrike"/>
                    </a:p>
                  </a:txBody>
                  <a:tcPr marT="42925" marB="42925" marR="85850" marL="858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307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Heartbleed</a:t>
                      </a:r>
                      <a:endParaRPr sz="1300" u="none" cap="none" strike="noStrike"/>
                    </a:p>
                  </a:txBody>
                  <a:tcPr marT="42925" marB="42925" marR="85850" marL="85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Avg Pkt Size &gt; 1500,  ACK Flag Count &gt; 4000</a:t>
                      </a:r>
                      <a:endParaRPr sz="1400" u="none" cap="none" strike="noStrike"/>
                    </a:p>
                  </a:txBody>
                  <a:tcPr marT="42925" marB="42925" marR="85850" marL="85850" anchor="ctr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  <a:tr h="307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FTP-Patator</a:t>
                      </a:r>
                      <a:endParaRPr sz="1300" u="none" cap="none" strike="noStrike"/>
                    </a:p>
                  </a:txBody>
                  <a:tcPr marT="42925" marB="42925" marR="85850" marL="85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Avg Pkt Size &gt; 5,  Dst Port = 21</a:t>
                      </a:r>
                      <a:endParaRPr sz="1400" u="none" cap="none" strike="noStrike"/>
                    </a:p>
                  </a:txBody>
                  <a:tcPr marT="42925" marB="42925" marR="85850" marL="85850" anchor="ctr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7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FTP-Patator - Attempted</a:t>
                      </a:r>
                      <a:endParaRPr sz="1400" u="none" cap="none" strike="noStrike"/>
                    </a:p>
                  </a:txBody>
                  <a:tcPr marT="42925" marB="42925" marR="85850" marL="85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Avg Pkt Size ≤ 5,  Dst Port = 21</a:t>
                      </a:r>
                      <a:endParaRPr sz="1400" u="none" cap="none" strike="noStrike"/>
                    </a:p>
                  </a:txBody>
                  <a:tcPr marT="42925" marB="42925" marR="85850" marL="85850" anchor="ctr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  <a:tr h="307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SSH-Patator</a:t>
                      </a:r>
                      <a:endParaRPr sz="1300" u="none" cap="none" strike="noStrike"/>
                    </a:p>
                  </a:txBody>
                  <a:tcPr marT="42925" marB="42925" marR="85850" marL="85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Avg Pkt Size &gt; 5,  Dst Port = 22</a:t>
                      </a:r>
                      <a:endParaRPr sz="1400" u="none" cap="none" strike="noStrike"/>
                    </a:p>
                  </a:txBody>
                  <a:tcPr marT="42925" marB="42925" marR="85850" marL="85850" anchor="ctr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7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SSH-Patator - Attempted</a:t>
                      </a:r>
                      <a:endParaRPr sz="1400" u="none" cap="none" strike="noStrike"/>
                    </a:p>
                  </a:txBody>
                  <a:tcPr marT="42925" marB="42925" marR="85850" marL="85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Avg Pkt Size ≤ 5,  Dst Port = 22</a:t>
                      </a:r>
                      <a:endParaRPr sz="1400" u="none" cap="none" strike="noStrike"/>
                    </a:p>
                  </a:txBody>
                  <a:tcPr marT="42925" marB="42925" marR="85850" marL="85850" anchor="ctr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  <a:tr h="307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Botnet</a:t>
                      </a:r>
                      <a:endParaRPr sz="1400" u="none" cap="none" strike="noStrike"/>
                    </a:p>
                  </a:txBody>
                  <a:tcPr marT="42925" marB="42925" marR="85850" marL="85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Avg Pkt Size &gt; 5,  Dst Port = 8080</a:t>
                      </a:r>
                      <a:endParaRPr sz="1400" u="none" cap="none" strike="noStrike"/>
                    </a:p>
                  </a:txBody>
                  <a:tcPr marT="42925" marB="42925" marR="85850" marL="85850" anchor="ctr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7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Botnet - Attempted</a:t>
                      </a:r>
                      <a:endParaRPr sz="1400" u="none" cap="none" strike="noStrike"/>
                    </a:p>
                  </a:txBody>
                  <a:tcPr marT="42925" marB="42925" marR="85850" marL="85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Avg Pkt Size ≤ 5,  Dst Port = 8080</a:t>
                      </a:r>
                      <a:endParaRPr sz="1400" u="none" cap="none" strike="noStrike"/>
                    </a:p>
                  </a:txBody>
                  <a:tcPr marT="42925" marB="42925" marR="85850" marL="85850" anchor="ctr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  <a:tr h="521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Portscan</a:t>
                      </a:r>
                      <a:endParaRPr sz="1400" u="none" cap="none" strike="noStrike"/>
                    </a:p>
                  </a:txBody>
                  <a:tcPr marT="42925" marB="42925" marR="85850" marL="85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Avg Pkt Size ≤ 5,  Fwd Packets/s &gt; 10000</a:t>
                      </a:r>
                      <a:endParaRPr sz="1400" u="none" cap="none" strike="noStrike"/>
                    </a:p>
                  </a:txBody>
                  <a:tcPr marT="42925" marB="42925" marR="85850" marL="85850" anchor="ctr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1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Infiltration - Portscan</a:t>
                      </a:r>
                      <a:endParaRPr sz="1400" u="none" cap="none" strike="noStrike"/>
                    </a:p>
                  </a:txBody>
                  <a:tcPr marT="42925" marB="42925" marR="85850" marL="85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Avg Pkt Size ≤ 5,  Fwd Packets/s &gt; 10000,  SYN Flag = 2</a:t>
                      </a:r>
                      <a:endParaRPr sz="1400" u="none" cap="none" strike="noStrike"/>
                    </a:p>
                  </a:txBody>
                  <a:tcPr marT="42925" marB="42925" marR="85850" marL="85850" anchor="ctr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  <a:tr h="511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200" u="none" cap="none" strike="noStrike"/>
                        <a:t>DoS GoldenEye</a:t>
                      </a:r>
                      <a:endParaRPr sz="1300" u="none" cap="none" strike="noStrike"/>
                    </a:p>
                  </a:txBody>
                  <a:tcPr marT="42925" marB="42925" marR="85850" marL="85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Avg Pkt Size &gt; 600,  Bwd Pkt Std ≥ 1500,  IAT ≥ 500K</a:t>
                      </a:r>
                      <a:endParaRPr sz="1400" u="none" cap="none" strike="noStrike"/>
                    </a:p>
                  </a:txBody>
                  <a:tcPr marT="42925" marB="42925" marR="85850" marL="85850" anchor="ctr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0" y="73152"/>
            <a:ext cx="164700" cy="50703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318501" y="4881363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HPE CPP3  |  Week 4 Update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274320" y="822960"/>
            <a:ext cx="3931800" cy="54900"/>
          </a:xfrm>
          <a:prstGeom prst="rect">
            <a:avLst/>
          </a:prstGeom>
          <a:solidFill>
            <a:srgbClr val="007C8A"/>
          </a:solidFill>
          <a:ln cap="flat" cmpd="sng" w="12700">
            <a:solidFill>
              <a:srgbClr val="007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11480" y="1466823"/>
            <a:ext cx="3657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365710" y="105175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Rule Based Labeling</a:t>
            </a:r>
            <a:endParaRPr b="0" i="0" sz="22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8" name="Google Shape;58;p5"/>
          <p:cNvGraphicFramePr/>
          <p:nvPr/>
        </p:nvGraphicFramePr>
        <p:xfrm>
          <a:off x="274270" y="9098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{CE949B2D-0470-4982-8F85-CF396ADB93D1}</a:tableStyleId>
              </a:tblPr>
              <a:tblGrid>
                <a:gridCol w="3216400"/>
                <a:gridCol w="5423125"/>
              </a:tblGrid>
              <a:tr h="28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Label</a:t>
                      </a:r>
                      <a:endParaRPr sz="13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31375" marB="31375" marR="62725" marL="62725" anchor="ctr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Dataset Parameters Used</a:t>
                      </a:r>
                      <a:endParaRPr sz="1400" u="none" cap="none" strike="noStrike"/>
                    </a:p>
                  </a:txBody>
                  <a:tcPr marT="42925" marB="42925" marR="85850" marL="85850" anchor="ctr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40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100" u="none" cap="none" strike="noStrike"/>
                        <a:t>DoS GoldenEye - Attempted</a:t>
                      </a:r>
                      <a:endParaRPr sz="1200" u="none" cap="none" strike="noStrike"/>
                    </a:p>
                  </a:txBody>
                  <a:tcPr marT="31375" marB="31375" marR="62725" marL="62725" anchor="ctr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Avg Pkt Size ≤ 5,  Fwd Packets/s &gt; 200</a:t>
                      </a:r>
                      <a:endParaRPr sz="1400" u="none" cap="none" strike="noStrike"/>
                    </a:p>
                  </a:txBody>
                  <a:tcPr marT="31375" marB="31375" marR="62725" marL="62725" anchor="ctr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  <a:tr h="40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100" u="none" cap="none" strike="noStrike"/>
                        <a:t>Infiltration - Attempted</a:t>
                      </a:r>
                      <a:endParaRPr sz="1200" u="none" cap="none" strike="noStrike"/>
                    </a:p>
                  </a:txBody>
                  <a:tcPr marT="31375" marB="31375" marR="62725" marL="62725" anchor="ctr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Avg Pkt Size ≤ 5,  Fwd Packets/s &gt; 200,  RST Flag ≥ 1</a:t>
                      </a:r>
                      <a:endParaRPr sz="1400" u="none" cap="none" strike="noStrike"/>
                    </a:p>
                  </a:txBody>
                  <a:tcPr marT="31375" marB="31375" marR="62725" marL="62725" anchor="ctr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100" u="none" cap="none" strike="noStrike"/>
                        <a:t>DoS Slowhttptest - Attempted</a:t>
                      </a:r>
                      <a:endParaRPr sz="1200" u="none" cap="none" strike="noStrike"/>
                    </a:p>
                  </a:txBody>
                  <a:tcPr marT="31375" marB="31375" marR="62725" marL="62725" anchor="ctr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Avg Pkt Size ≤ 5,  SYN Flag ≥ 7</a:t>
                      </a:r>
                      <a:endParaRPr sz="1400" u="none" cap="none" strike="noStrike"/>
                    </a:p>
                  </a:txBody>
                  <a:tcPr marT="31375" marB="31375" marR="62725" marL="62725" anchor="ctr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  <a:tr h="40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100" u="none" cap="none" strike="noStrike"/>
                        <a:t>DoS Slowloris - Attempted</a:t>
                      </a:r>
                      <a:endParaRPr sz="1200" u="none" cap="none" strike="noStrike"/>
                    </a:p>
                  </a:txBody>
                  <a:tcPr marT="31375" marB="31375" marR="62725" marL="62725" anchor="ctr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Avg Pkt Size ≤ 5,  SYN Flag = 3,  ACK Flag = 0</a:t>
                      </a:r>
                      <a:endParaRPr sz="1400" u="none" cap="none" strike="noStrike"/>
                    </a:p>
                  </a:txBody>
                  <a:tcPr marT="31375" marB="31375" marR="62725" marL="62725" anchor="ctr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100" u="none" cap="none" strike="noStrike"/>
                        <a:t>DoS Hulk - Attempted</a:t>
                      </a:r>
                      <a:endParaRPr sz="1200" u="none" cap="none" strike="noStrike"/>
                    </a:p>
                  </a:txBody>
                  <a:tcPr marT="31375" marB="31375" marR="62725" marL="62725" anchor="ctr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Avg Pkt Size ≤ 5,  SYN Flag = 3,  ACK Flag = 2,  IAT &gt; 30M</a:t>
                      </a:r>
                      <a:endParaRPr sz="1400" u="none" cap="none" strike="noStrike"/>
                    </a:p>
                  </a:txBody>
                  <a:tcPr marT="31375" marB="31375" marR="62725" marL="62725" anchor="ctr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  <a:tr h="40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100" u="none" cap="none" strike="noStrike"/>
                        <a:t>Web Attack - Brute Force - Attempted</a:t>
                      </a:r>
                      <a:endParaRPr sz="1200" u="none" cap="none" strike="noStrike"/>
                    </a:p>
                  </a:txBody>
                  <a:tcPr marT="31375" marB="31375" marR="62725" marL="62725" anchor="ctr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Avg Pkt Size ≤ 5,  SYN Flag = 2,  IAT &gt; 5.3M</a:t>
                      </a:r>
                      <a:endParaRPr sz="1400" u="none" cap="none" strike="noStrike"/>
                    </a:p>
                  </a:txBody>
                  <a:tcPr marT="31375" marB="31375" marR="62725" marL="62725" anchor="ctr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100" u="none" cap="none" strike="noStrike"/>
                        <a:t>Web Attack - XSS - Attempted</a:t>
                      </a:r>
                      <a:endParaRPr sz="1200" u="none" cap="none" strike="noStrike"/>
                    </a:p>
                  </a:txBody>
                  <a:tcPr marT="31375" marB="31375" marR="62725" marL="62725" anchor="ctr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Avg Pkt Size ≤ 5,  SYN Flag = 2,  IAT &gt; 5M</a:t>
                      </a:r>
                      <a:endParaRPr sz="1400" u="none" cap="none" strike="noStrike"/>
                    </a:p>
                  </a:txBody>
                  <a:tcPr marT="31375" marB="31375" marR="62725" marL="62725" anchor="ctr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  <a:tr h="575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100" u="none" cap="none" strike="noStrike"/>
                        <a:t>Web Attack - SQL Injection - Attempted</a:t>
                      </a:r>
                      <a:endParaRPr sz="1200" u="none" cap="none" strike="noStrike"/>
                    </a:p>
                  </a:txBody>
                  <a:tcPr marT="31375" marB="31375" marR="62725" marL="62725" anchor="ctr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Avg Pkt Size ≤ 5,  SYN Flag = 2,  IAT &lt; 5M</a:t>
                      </a:r>
                      <a:endParaRPr sz="1400" u="none" cap="none" strike="noStrike"/>
                    </a:p>
                  </a:txBody>
                  <a:tcPr marT="31375" marB="31375" marR="62725" marL="62725" anchor="ctr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100" u="none" cap="none" strike="noStrike"/>
                        <a:t>DoS Slowhttptest</a:t>
                      </a:r>
                      <a:endParaRPr sz="1200" u="none" cap="none" strike="noStrike"/>
                    </a:p>
                  </a:txBody>
                  <a:tcPr marT="31375" marB="31375" marR="62725" marL="62725" anchor="ctr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Avg Pkt Size &gt; 5,  Bwd Pkt Std = 0,  IAT &gt; 80M</a:t>
                      </a:r>
                      <a:endParaRPr sz="1400" u="none" cap="none" strike="noStrike"/>
                    </a:p>
                  </a:txBody>
                  <a:tcPr marT="31375" marB="31375" marR="62725" marL="62725" anchor="ctr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0" y="73152"/>
            <a:ext cx="164700" cy="50703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318501" y="4881363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HPE CPP3  |  Week 4 Update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274320" y="690793"/>
            <a:ext cx="3931800" cy="54900"/>
          </a:xfrm>
          <a:prstGeom prst="rect">
            <a:avLst/>
          </a:prstGeom>
          <a:solidFill>
            <a:srgbClr val="007C8A"/>
          </a:solidFill>
          <a:ln cap="flat" cmpd="sng" w="12700">
            <a:solidFill>
              <a:srgbClr val="007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411480" y="1466823"/>
            <a:ext cx="3657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365710" y="105175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Rule Based Labeling</a:t>
            </a:r>
            <a:endParaRPr b="0" i="0" sz="22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1" name="Google Shape;71;p6"/>
          <p:cNvGraphicFramePr/>
          <p:nvPr/>
        </p:nvGraphicFramePr>
        <p:xfrm>
          <a:off x="318408" y="7909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{CE949B2D-0470-4982-8F85-CF396ADB93D1}</a:tableStyleId>
              </a:tblPr>
              <a:tblGrid>
                <a:gridCol w="3238550"/>
                <a:gridCol w="5460425"/>
              </a:tblGrid>
              <a:tr h="28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Label</a:t>
                      </a:r>
                      <a:endParaRPr sz="13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30025" marB="30025" marR="60050" marL="60050" anchor="ctr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Dataset Parameters Used</a:t>
                      </a:r>
                      <a:endParaRPr sz="1400" u="none" cap="none" strike="noStrike"/>
                    </a:p>
                  </a:txBody>
                  <a:tcPr marT="42925" marB="42925" marR="85850" marL="85850" anchor="ctr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DoS Slowloris</a:t>
                      </a:r>
                      <a:endParaRPr sz="1400" u="none" cap="none" strike="noStrike"/>
                    </a:p>
                  </a:txBody>
                  <a:tcPr marT="30025" marB="30025" marR="60050" marL="60050" anchor="ctr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Avg Pkt Size &gt; 5,  Bwd Pkt Std = 0,  IAT &gt; 40M</a:t>
                      </a:r>
                      <a:endParaRPr sz="1400" u="none" cap="none" strike="noStrike"/>
                    </a:p>
                  </a:txBody>
                  <a:tcPr marT="30025" marB="30025" marR="60050" marL="60050" anchor="ctr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Infiltration</a:t>
                      </a:r>
                      <a:endParaRPr sz="1400" u="none" cap="none" strike="noStrike"/>
                    </a:p>
                  </a:txBody>
                  <a:tcPr marT="30025" marB="30025" marR="60050" marL="60050" anchor="ctr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Avg Pkt Size 150–190,  Bwd Pkt Std = 0,  IAT &gt; 30M</a:t>
                      </a:r>
                      <a:endParaRPr sz="1400" u="none" cap="none" strike="noStrike"/>
                    </a:p>
                  </a:txBody>
                  <a:tcPr marT="30025" marB="30025" marR="60050" marL="60050" anchor="ctr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Web Attack - XSS</a:t>
                      </a:r>
                      <a:endParaRPr sz="1400" u="none" cap="none" strike="noStrike"/>
                    </a:p>
                  </a:txBody>
                  <a:tcPr marT="30025" marB="30025" marR="60050" marL="60050" anchor="ctr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Avg Pkt Size 700–800,  Dst Port = 80/443,  ACK Flag &gt; 150</a:t>
                      </a:r>
                      <a:endParaRPr sz="1400" u="none" cap="none" strike="noStrike"/>
                    </a:p>
                  </a:txBody>
                  <a:tcPr marT="30025" marB="30025" marR="60050" marL="60050" anchor="ctr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  <a:tr h="42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Web Attack - Brute Force</a:t>
                      </a:r>
                      <a:endParaRPr sz="1400" u="none" cap="none" strike="noStrike"/>
                    </a:p>
                  </a:txBody>
                  <a:tcPr marT="30025" marB="30025" marR="60050" marL="60050" anchor="ctr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Avg Pkt Size 300–450,  Dst Port = 80/443,  ACK Flag &gt; 150</a:t>
                      </a:r>
                      <a:endParaRPr sz="1400" u="none" cap="none" strike="noStrike"/>
                    </a:p>
                  </a:txBody>
                  <a:tcPr marT="30025" marB="30025" marR="60050" marL="60050" anchor="ctr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Web Attack - SQL Injection</a:t>
                      </a:r>
                      <a:endParaRPr sz="1400" u="none" cap="none" strike="noStrike"/>
                    </a:p>
                  </a:txBody>
                  <a:tcPr marT="30025" marB="30025" marR="60050" marL="60050" anchor="ctr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Avg Pkt Size 200–300,  Dst Port = 80/443,  ACK Flag ≥ 10,  Bwd Pkt Std 800–1000</a:t>
                      </a:r>
                      <a:endParaRPr sz="1400" u="none" cap="none" strike="noStrike"/>
                    </a:p>
                  </a:txBody>
                  <a:tcPr marT="30025" marB="30025" marR="60050" marL="60050" anchor="ctr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DoS Hulk</a:t>
                      </a:r>
                      <a:endParaRPr sz="1400" u="none" cap="none" strike="noStrike"/>
                    </a:p>
                  </a:txBody>
                  <a:tcPr marT="30025" marB="30025" marR="60050" marL="60050" anchor="ctr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Avg Pkt Size &gt; 600,  Bwd Pkt Std &gt; 1500,  IAT &lt; 500K</a:t>
                      </a:r>
                      <a:endParaRPr sz="1400" u="none" cap="none" strike="noStrike"/>
                    </a:p>
                  </a:txBody>
                  <a:tcPr marT="30025" marB="30025" marR="60050" marL="60050" anchor="ctr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DDoS</a:t>
                      </a:r>
                      <a:endParaRPr sz="1400" u="none" cap="none" strike="noStrike"/>
                    </a:p>
                  </a:txBody>
                  <a:tcPr marT="30025" marB="30025" marR="60050" marL="60050" anchor="ctr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Avg Pkt Size &gt; 600,  Bwd Pkt Std &gt; 3000,  IAT ≥ 500K</a:t>
                      </a:r>
                      <a:endParaRPr sz="1400" u="none" cap="none" strike="noStrike"/>
                    </a:p>
                  </a:txBody>
                  <a:tcPr marT="30025" marB="30025" marR="60050" marL="60050" anchor="ctr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DoS GoldenEye</a:t>
                      </a:r>
                      <a:endParaRPr sz="1400" u="none" cap="none" strike="noStrike"/>
                    </a:p>
                  </a:txBody>
                  <a:tcPr marT="30025" marB="30025" marR="60050" marL="60050" anchor="ctr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Avg Pkt Size &gt; 600,  Bwd Pkt Std ≥ 1500,  IAT ≥ 500K</a:t>
                      </a:r>
                      <a:endParaRPr sz="1400" u="none" cap="none" strike="noStrike"/>
                    </a:p>
                  </a:txBody>
                  <a:tcPr marT="30025" marB="30025" marR="60050" marL="60050" anchor="ctr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7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200" u="none" cap="none" strike="noStrike"/>
                        <a:t>BENIGN</a:t>
                      </a:r>
                      <a:endParaRPr sz="1300" u="none" cap="none" strike="noStrike"/>
                    </a:p>
                  </a:txBody>
                  <a:tcPr marT="42925" marB="42925" marR="85850" marL="85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Avg Pkt Size ≤ 5,  No rule matched (default)</a:t>
                      </a:r>
                      <a:endParaRPr sz="1400" u="none" cap="none" strike="noStrike"/>
                    </a:p>
                  </a:txBody>
                  <a:tcPr marT="42925" marB="42925" marR="85850" marL="85850" anchor="ctr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0" y="73152"/>
            <a:ext cx="164700" cy="50703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274327" y="690806"/>
            <a:ext cx="5310900" cy="73200"/>
          </a:xfrm>
          <a:prstGeom prst="rect">
            <a:avLst/>
          </a:prstGeom>
          <a:solidFill>
            <a:srgbClr val="007C8A"/>
          </a:solidFill>
          <a:ln cap="flat" cmpd="sng" w="12700">
            <a:solidFill>
              <a:srgbClr val="007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365710" y="105175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Frontend Page after classification of network</a:t>
            </a:r>
            <a:endParaRPr b="0" i="0" sz="22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7" title="WhatsApp Image 2026-03-31 at 1.10.07 AM.jpeg"/>
          <p:cNvPicPr preferRelativeResize="0"/>
          <p:nvPr/>
        </p:nvPicPr>
        <p:blipFill rotWithShape="1">
          <a:blip r:embed="rId3">
            <a:alphaModFix/>
          </a:blip>
          <a:srcRect b="28041" l="0" r="0" t="14058"/>
          <a:stretch/>
        </p:blipFill>
        <p:spPr>
          <a:xfrm>
            <a:off x="365700" y="821575"/>
            <a:ext cx="8412600" cy="999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7" title="WhatsApp Image 2026-03-31 at 12.36.32 AM.jpeg"/>
          <p:cNvPicPr preferRelativeResize="0"/>
          <p:nvPr/>
        </p:nvPicPr>
        <p:blipFill rotWithShape="1">
          <a:blip r:embed="rId4">
            <a:alphaModFix/>
          </a:blip>
          <a:srcRect b="0" l="296" r="938" t="16674"/>
          <a:stretch/>
        </p:blipFill>
        <p:spPr>
          <a:xfrm>
            <a:off x="365700" y="1807771"/>
            <a:ext cx="8412587" cy="310688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7"/>
          <p:cNvSpPr/>
          <p:nvPr/>
        </p:nvSpPr>
        <p:spPr>
          <a:xfrm>
            <a:off x="318501" y="4881363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HPE CPP3  |  Week 4 Update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1E3A5F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