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" name="Google Shape;1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" name="Google Shape;1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" name="Google Shape;3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" name="Google Shape;7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" name="Google Shape;18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 2">
    <p:bg>
      <p:bgPr>
        <a:solidFill>
          <a:schemeClr val="lt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5"/>
          <p:cNvSpPr/>
          <p:nvPr/>
        </p:nvSpPr>
        <p:spPr>
          <a:xfrm>
            <a:off x="0" y="73152"/>
            <a:ext cx="164592" cy="507034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5"/>
          <p:cNvSpPr/>
          <p:nvPr/>
        </p:nvSpPr>
        <p:spPr>
          <a:xfrm>
            <a:off x="0" y="5143500"/>
            <a:ext cx="9144000" cy="7315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5"/>
          <p:cNvSpPr/>
          <p:nvPr/>
        </p:nvSpPr>
        <p:spPr>
          <a:xfrm>
            <a:off x="457200" y="288036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Week 2 Progress Update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5"/>
          <p:cNvSpPr/>
          <p:nvPr/>
        </p:nvSpPr>
        <p:spPr>
          <a:xfrm>
            <a:off x="6492240" y="1005840"/>
            <a:ext cx="2468880" cy="292608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5"/>
          <p:cNvSpPr/>
          <p:nvPr/>
        </p:nvSpPr>
        <p:spPr>
          <a:xfrm>
            <a:off x="6629400" y="1188720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Mentor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5"/>
          <p:cNvSpPr/>
          <p:nvPr/>
        </p:nvSpPr>
        <p:spPr>
          <a:xfrm>
            <a:off x="6629400" y="1426464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Jayachandra 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5"/>
          <p:cNvSpPr/>
          <p:nvPr/>
        </p:nvSpPr>
        <p:spPr>
          <a:xfrm>
            <a:off x="6629400" y="1847088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Manager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5"/>
          <p:cNvSpPr/>
          <p:nvPr/>
        </p:nvSpPr>
        <p:spPr>
          <a:xfrm>
            <a:off x="6629400" y="2084832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Saikat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5"/>
          <p:cNvSpPr/>
          <p:nvPr/>
        </p:nvSpPr>
        <p:spPr>
          <a:xfrm>
            <a:off x="6629400" y="2505456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College Mentor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5"/>
          <p:cNvSpPr/>
          <p:nvPr/>
        </p:nvSpPr>
        <p:spPr>
          <a:xfrm>
            <a:off x="6629400" y="2743200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Priyanka Mitra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5"/>
          <p:cNvSpPr/>
          <p:nvPr/>
        </p:nvSpPr>
        <p:spPr>
          <a:xfrm>
            <a:off x="6629400" y="3163824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Program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5"/>
          <p:cNvSpPr/>
          <p:nvPr/>
        </p:nvSpPr>
        <p:spPr>
          <a:xfrm>
            <a:off x="6629400" y="3401568"/>
            <a:ext cx="2194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HPE CPP3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5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Hewlett Packard Enterprise  |  March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5"/>
          <p:cNvSpPr/>
          <p:nvPr/>
        </p:nvSpPr>
        <p:spPr>
          <a:xfrm>
            <a:off x="385762" y="1769495"/>
            <a:ext cx="5943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n-US" sz="30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Flow Behaviour Profiling</a:t>
            </a:r>
            <a:endParaRPr b="1" sz="4000">
              <a:solidFill>
                <a:srgbClr val="1E3A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/>
          <p:nvPr/>
        </p:nvSpPr>
        <p:spPr>
          <a:xfrm>
            <a:off x="462501" y="2286538"/>
            <a:ext cx="3858300" cy="27000"/>
          </a:xfrm>
          <a:prstGeom prst="rect">
            <a:avLst/>
          </a:prstGeom>
          <a:solidFill>
            <a:srgbClr val="14A88E"/>
          </a:solidFill>
          <a:ln cap="flat" cmpd="sng" w="12700">
            <a:solidFill>
              <a:srgbClr val="14A8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5"/>
          <p:cNvSpPr/>
          <p:nvPr/>
        </p:nvSpPr>
        <p:spPr>
          <a:xfrm>
            <a:off x="457200" y="2423160"/>
            <a:ext cx="5486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3800"/>
              <a:buFont typeface="Calibri"/>
              <a:buNone/>
            </a:pPr>
            <a:r>
              <a:rPr lang="en-US" sz="1700">
                <a:solidFill>
                  <a:srgbClr val="0D9497"/>
                </a:solidFill>
                <a:latin typeface="Calibri"/>
                <a:ea typeface="Calibri"/>
                <a:cs typeface="Calibri"/>
                <a:sym typeface="Calibri"/>
              </a:rPr>
              <a:t>Network Flow Classification</a:t>
            </a:r>
            <a:endParaRPr sz="2000">
              <a:solidFill>
                <a:srgbClr val="00A9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6"/>
          <p:cNvSpPr/>
          <p:nvPr/>
        </p:nvSpPr>
        <p:spPr>
          <a:xfrm>
            <a:off x="0" y="73152"/>
            <a:ext cx="164592" cy="507034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6"/>
          <p:cNvSpPr/>
          <p:nvPr/>
        </p:nvSpPr>
        <p:spPr>
          <a:xfrm>
            <a:off x="0" y="5143500"/>
            <a:ext cx="9144000" cy="7315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6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HPE CPP3  |  Week 2 Update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6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Week 2 — Work Completed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6"/>
          <p:cNvSpPr/>
          <p:nvPr/>
        </p:nvSpPr>
        <p:spPr>
          <a:xfrm>
            <a:off x="320040" y="822960"/>
            <a:ext cx="4160520" cy="16002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6"/>
          <p:cNvSpPr/>
          <p:nvPr/>
        </p:nvSpPr>
        <p:spPr>
          <a:xfrm>
            <a:off x="320040" y="822960"/>
            <a:ext cx="4160520" cy="54864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457200" y="1005840"/>
            <a:ext cx="475488" cy="475488"/>
          </a:xfrm>
          <a:prstGeom prst="ellipse">
            <a:avLst/>
          </a:prstGeom>
          <a:solidFill>
            <a:srgbClr val="0D9488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6"/>
          <p:cNvSpPr/>
          <p:nvPr/>
        </p:nvSpPr>
        <p:spPr>
          <a:xfrm>
            <a:off x="457200" y="100584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6"/>
          <p:cNvSpPr/>
          <p:nvPr/>
        </p:nvSpPr>
        <p:spPr>
          <a:xfrm>
            <a:off x="1033272" y="987552"/>
            <a:ext cx="3291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Classification Label Mapping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484632" y="1481328"/>
            <a:ext cx="3840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2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Mapped all CICIDS dataset attack types to 4 project labels: Normal, Suspicious, Misconfigured, and Attack-like.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320040" y="2697480"/>
            <a:ext cx="4160520" cy="16002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320040" y="2697480"/>
            <a:ext cx="4160520" cy="54864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6"/>
          <p:cNvSpPr/>
          <p:nvPr/>
        </p:nvSpPr>
        <p:spPr>
          <a:xfrm>
            <a:off x="457200" y="2880360"/>
            <a:ext cx="475488" cy="475488"/>
          </a:xfrm>
          <a:prstGeom prst="ellipse">
            <a:avLst/>
          </a:prstGeom>
          <a:solidFill>
            <a:srgbClr val="0D9488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457200" y="288036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1033272" y="2862072"/>
            <a:ext cx="3291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Attack Flow Behavior Study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6"/>
          <p:cNvSpPr/>
          <p:nvPr/>
        </p:nvSpPr>
        <p:spPr>
          <a:xfrm>
            <a:off x="4754880" y="822960"/>
            <a:ext cx="4160520" cy="16002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6"/>
          <p:cNvSpPr/>
          <p:nvPr/>
        </p:nvSpPr>
        <p:spPr>
          <a:xfrm>
            <a:off x="4754880" y="822960"/>
            <a:ext cx="4160520" cy="54864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4892040" y="1005840"/>
            <a:ext cx="475488" cy="475488"/>
          </a:xfrm>
          <a:prstGeom prst="ellipse">
            <a:avLst/>
          </a:prstGeom>
          <a:solidFill>
            <a:srgbClr val="0D9488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6"/>
          <p:cNvSpPr/>
          <p:nvPr/>
        </p:nvSpPr>
        <p:spPr>
          <a:xfrm>
            <a:off x="4892040" y="100584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5468112" y="987552"/>
            <a:ext cx="3291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Misconfigured Sub-Label Design</a:t>
            </a:r>
            <a:endParaRPr b="1" i="0" sz="1300" u="none" cap="none" strike="noStrike">
              <a:solidFill>
                <a:srgbClr val="1E3A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621747" y="3368351"/>
            <a:ext cx="3840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Studied detailed flow behavior indicators for all 13 CICIDS attack types including ports, packet rates, flags, and duration ranges.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4754880" y="2697480"/>
            <a:ext cx="4160520" cy="16002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4754880" y="2697480"/>
            <a:ext cx="4160520" cy="54864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4892040" y="2880360"/>
            <a:ext cx="475488" cy="475488"/>
          </a:xfrm>
          <a:prstGeom prst="ellipse">
            <a:avLst/>
          </a:prstGeom>
          <a:solidFill>
            <a:srgbClr val="0D9488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6"/>
          <p:cNvSpPr/>
          <p:nvPr/>
        </p:nvSpPr>
        <p:spPr>
          <a:xfrm>
            <a:off x="4892040" y="288036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5468112" y="2862072"/>
            <a:ext cx="3291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Feature-to-Label Mapping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4919472" y="3355848"/>
            <a:ext cx="3840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Identified required dataset features for each sub-label and validated availability in CICIDS2017 columns.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0" y="5143500"/>
            <a:ext cx="9144000" cy="7315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HPE CPP3  |  Week 2 Update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4964034" y="1467636"/>
            <a:ext cx="3840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Defined 4 Misconfigured sub-types (Dead Service, TCP Handshake, Keep-Alive Timeout, MTU Mismatch) with detection logic.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0" y="73152"/>
            <a:ext cx="164592" cy="507034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7"/>
          <p:cNvSpPr/>
          <p:nvPr/>
        </p:nvSpPr>
        <p:spPr>
          <a:xfrm>
            <a:off x="0" y="5143500"/>
            <a:ext cx="9144000" cy="7315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7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HPE CPP3  |  Week 2 Update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7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Classification Labels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7"/>
          <p:cNvSpPr/>
          <p:nvPr/>
        </p:nvSpPr>
        <p:spPr>
          <a:xfrm>
            <a:off x="320040" y="658368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Mapping CICIDS dataset attack categories to our 4 project classification labels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274320" y="960120"/>
            <a:ext cx="8595360" cy="3931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3" name="Google Shape;8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1005840"/>
            <a:ext cx="8503920" cy="384048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7"/>
          <p:cNvSpPr/>
          <p:nvPr/>
        </p:nvSpPr>
        <p:spPr>
          <a:xfrm>
            <a:off x="0" y="5143500"/>
            <a:ext cx="9144000" cy="7315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7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HPE CPP3  |  Week 2 Update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" name="Google Shape;86;p7" title="Classification Labels.png"/>
          <p:cNvPicPr preferRelativeResize="0"/>
          <p:nvPr/>
        </p:nvPicPr>
        <p:blipFill rotWithShape="1">
          <a:blip r:embed="rId4">
            <a:alphaModFix/>
          </a:blip>
          <a:srcRect b="19448" l="0" r="0" t="16769"/>
          <a:stretch/>
        </p:blipFill>
        <p:spPr>
          <a:xfrm>
            <a:off x="274325" y="960125"/>
            <a:ext cx="8595350" cy="3931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"/>
          <p:cNvSpPr/>
          <p:nvPr/>
        </p:nvSpPr>
        <p:spPr>
          <a:xfrm>
            <a:off x="4754880" y="2388920"/>
            <a:ext cx="4068840" cy="2743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Flow Duration: </a:t>
            </a:r>
            <a:r>
              <a:rPr b="1" i="0" lang="en-US" sz="95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&lt; 1 second per probe</a:t>
            </a:r>
            <a:endParaRPr/>
          </a:p>
        </p:txBody>
      </p:sp>
      <p:sp>
        <p:nvSpPr>
          <p:cNvPr id="92" name="Google Shape;92;p8"/>
          <p:cNvSpPr/>
          <p:nvPr/>
        </p:nvSpPr>
        <p:spPr>
          <a:xfrm>
            <a:off x="320040" y="2388920"/>
            <a:ext cx="4068840" cy="2743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Flow Duration: </a:t>
            </a:r>
            <a:r>
              <a:rPr b="1" i="0" lang="en-US" sz="95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&lt; 1 second</a:t>
            </a:r>
            <a:endParaRPr/>
          </a:p>
        </p:txBody>
      </p:sp>
      <p:sp>
        <p:nvSpPr>
          <p:cNvPr id="93" name="Google Shape;93;p8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3A5F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8"/>
          <p:cNvSpPr/>
          <p:nvPr/>
        </p:nvSpPr>
        <p:spPr>
          <a:xfrm>
            <a:off x="0" y="73152"/>
            <a:ext cx="164592" cy="5078592"/>
          </a:xfrm>
          <a:prstGeom prst="rect">
            <a:avLst/>
          </a:prstGeom>
          <a:solidFill>
            <a:srgbClr val="0D9488"/>
          </a:solidFill>
          <a:ln cap="flat" cmpd="sng" w="95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8"/>
          <p:cNvSpPr/>
          <p:nvPr/>
        </p:nvSpPr>
        <p:spPr>
          <a:xfrm>
            <a:off x="0" y="5151744"/>
            <a:ext cx="9144000" cy="73152"/>
          </a:xfrm>
          <a:prstGeom prst="rect">
            <a:avLst/>
          </a:prstGeom>
          <a:solidFill>
            <a:srgbClr val="0D9488"/>
          </a:solidFill>
          <a:ln cap="flat" cmpd="sng" w="95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8"/>
          <p:cNvSpPr/>
          <p:nvPr/>
        </p:nvSpPr>
        <p:spPr>
          <a:xfrm>
            <a:off x="274320" y="12000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Suspicious Label — Detection &amp; Key Features</a:t>
            </a:r>
            <a:endParaRPr/>
          </a:p>
        </p:txBody>
      </p:sp>
      <p:sp>
        <p:nvSpPr>
          <p:cNvPr id="97" name="Google Shape;97;p8"/>
          <p:cNvSpPr/>
          <p:nvPr/>
        </p:nvSpPr>
        <p:spPr>
          <a:xfrm>
            <a:off x="274320" y="685800"/>
            <a:ext cx="8595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Reconnaissance or internal scanning flows — not confirmed attacks but warrant analyst attention</a:t>
            </a:r>
            <a:endParaRPr/>
          </a:p>
        </p:txBody>
      </p:sp>
      <p:sp>
        <p:nvSpPr>
          <p:cNvPr id="98" name="Google Shape;98;p8"/>
          <p:cNvSpPr/>
          <p:nvPr/>
        </p:nvSpPr>
        <p:spPr>
          <a:xfrm>
            <a:off x="274320" y="980000"/>
            <a:ext cx="4160520" cy="410000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8"/>
          <p:cNvSpPr/>
          <p:nvPr/>
        </p:nvSpPr>
        <p:spPr>
          <a:xfrm>
            <a:off x="274320" y="980000"/>
            <a:ext cx="4160520" cy="457200"/>
          </a:xfrm>
          <a:prstGeom prst="rect">
            <a:avLst/>
          </a:prstGeom>
          <a:solidFill>
            <a:srgbClr val="1E3A5F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Portscan</a:t>
            </a:r>
            <a:endParaRPr/>
          </a:p>
        </p:txBody>
      </p:sp>
      <p:sp>
        <p:nvSpPr>
          <p:cNvPr id="100" name="Google Shape;100;p8"/>
          <p:cNvSpPr/>
          <p:nvPr/>
        </p:nvSpPr>
        <p:spPr>
          <a:xfrm>
            <a:off x="320040" y="1480000"/>
            <a:ext cx="406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External host probing many ports to find open services.</a:t>
            </a:r>
            <a:endParaRPr/>
          </a:p>
        </p:txBody>
      </p:sp>
      <p:sp>
        <p:nvSpPr>
          <p:cNvPr id="101" name="Google Shape;101;p8"/>
          <p:cNvSpPr/>
          <p:nvPr/>
        </p:nvSpPr>
        <p:spPr>
          <a:xfrm>
            <a:off x="320040" y="1800000"/>
            <a:ext cx="4068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Key Indicators</a:t>
            </a:r>
            <a:endParaRPr/>
          </a:p>
        </p:txBody>
      </p:sp>
      <p:sp>
        <p:nvSpPr>
          <p:cNvPr id="102" name="Google Shape;102;p8"/>
          <p:cNvSpPr/>
          <p:nvPr/>
        </p:nvSpPr>
        <p:spPr>
          <a:xfrm>
            <a:off x="320040" y="2068600"/>
            <a:ext cx="4068840" cy="2743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Total Packets: </a:t>
            </a:r>
            <a:r>
              <a:rPr b="1" i="0" lang="en-US" sz="95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1–3 per probe</a:t>
            </a:r>
            <a:endParaRPr/>
          </a:p>
        </p:txBody>
      </p:sp>
      <p:sp>
        <p:nvSpPr>
          <p:cNvPr id="103" name="Google Shape;103;p8"/>
          <p:cNvSpPr/>
          <p:nvPr/>
        </p:nvSpPr>
        <p:spPr>
          <a:xfrm>
            <a:off x="320040" y="2435234"/>
            <a:ext cx="4068840" cy="2743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SYN Flag: </a:t>
            </a:r>
            <a:r>
              <a:rPr b="1" i="0" lang="en-US" sz="95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≥ 1 (connection probe)</a:t>
            </a:r>
            <a:endParaRPr/>
          </a:p>
        </p:txBody>
      </p:sp>
      <p:sp>
        <p:nvSpPr>
          <p:cNvPr id="104" name="Google Shape;104;p8"/>
          <p:cNvSpPr/>
          <p:nvPr/>
        </p:nvSpPr>
        <p:spPr>
          <a:xfrm>
            <a:off x="320040" y="2849498"/>
            <a:ext cx="4068840" cy="2743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Avg Pkt Size: </a:t>
            </a:r>
            <a:r>
              <a:rPr b="1" i="0" lang="en-US" sz="95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0–100 bytes (tiny packets)</a:t>
            </a:r>
            <a:endParaRPr/>
          </a:p>
        </p:txBody>
      </p:sp>
      <p:sp>
        <p:nvSpPr>
          <p:cNvPr id="105" name="Google Shape;105;p8"/>
          <p:cNvSpPr/>
          <p:nvPr/>
        </p:nvSpPr>
        <p:spPr>
          <a:xfrm>
            <a:off x="320040" y="3349880"/>
            <a:ext cx="4068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Dataset Features Used</a:t>
            </a:r>
            <a:endParaRPr/>
          </a:p>
        </p:txBody>
      </p:sp>
      <p:sp>
        <p:nvSpPr>
          <p:cNvPr id="106" name="Google Shape;106;p8"/>
          <p:cNvSpPr/>
          <p:nvPr/>
        </p:nvSpPr>
        <p:spPr>
          <a:xfrm>
            <a:off x="320040" y="3624200"/>
            <a:ext cx="1235000" cy="274320"/>
          </a:xfrm>
          <a:prstGeom prst="rect">
            <a:avLst/>
          </a:prstGeom>
          <a:solidFill>
            <a:srgbClr val="E0F2F1"/>
          </a:solidFill>
          <a:ln cap="flat" cmpd="sng" w="95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Total Packets</a:t>
            </a:r>
            <a:endParaRPr/>
          </a:p>
        </p:txBody>
      </p:sp>
      <p:sp>
        <p:nvSpPr>
          <p:cNvPr id="107" name="Google Shape;107;p8"/>
          <p:cNvSpPr/>
          <p:nvPr/>
        </p:nvSpPr>
        <p:spPr>
          <a:xfrm>
            <a:off x="1600040" y="3624200"/>
            <a:ext cx="1235000" cy="274320"/>
          </a:xfrm>
          <a:prstGeom prst="rect">
            <a:avLst/>
          </a:prstGeom>
          <a:solidFill>
            <a:srgbClr val="E0F2F1"/>
          </a:solidFill>
          <a:ln cap="flat" cmpd="sng" w="95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Flow Duration</a:t>
            </a:r>
            <a:endParaRPr/>
          </a:p>
        </p:txBody>
      </p:sp>
      <p:sp>
        <p:nvSpPr>
          <p:cNvPr id="108" name="Google Shape;108;p8"/>
          <p:cNvSpPr/>
          <p:nvPr/>
        </p:nvSpPr>
        <p:spPr>
          <a:xfrm>
            <a:off x="2880040" y="3624200"/>
            <a:ext cx="1235000" cy="274320"/>
          </a:xfrm>
          <a:prstGeom prst="rect">
            <a:avLst/>
          </a:prstGeom>
          <a:solidFill>
            <a:srgbClr val="E0F2F1"/>
          </a:solidFill>
          <a:ln cap="flat" cmpd="sng" w="95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SYN Flag Count</a:t>
            </a:r>
            <a:endParaRPr/>
          </a:p>
        </p:txBody>
      </p:sp>
      <p:sp>
        <p:nvSpPr>
          <p:cNvPr id="109" name="Google Shape;109;p8"/>
          <p:cNvSpPr/>
          <p:nvPr/>
        </p:nvSpPr>
        <p:spPr>
          <a:xfrm>
            <a:off x="320040" y="3944520"/>
            <a:ext cx="1235000" cy="274320"/>
          </a:xfrm>
          <a:prstGeom prst="rect">
            <a:avLst/>
          </a:prstGeom>
          <a:solidFill>
            <a:srgbClr val="E0F2F1"/>
          </a:solidFill>
          <a:ln cap="flat" cmpd="sng" w="95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Dst Port</a:t>
            </a:r>
            <a:endParaRPr/>
          </a:p>
        </p:txBody>
      </p:sp>
      <p:sp>
        <p:nvSpPr>
          <p:cNvPr id="110" name="Google Shape;110;p8"/>
          <p:cNvSpPr/>
          <p:nvPr/>
        </p:nvSpPr>
        <p:spPr>
          <a:xfrm>
            <a:off x="1600040" y="3944520"/>
            <a:ext cx="1235000" cy="274320"/>
          </a:xfrm>
          <a:prstGeom prst="rect">
            <a:avLst/>
          </a:prstGeom>
          <a:solidFill>
            <a:srgbClr val="E0F2F1"/>
          </a:solidFill>
          <a:ln cap="flat" cmpd="sng" w="95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Avg Pkt Size</a:t>
            </a:r>
            <a:endParaRPr/>
          </a:p>
        </p:txBody>
      </p:sp>
      <p:sp>
        <p:nvSpPr>
          <p:cNvPr id="111" name="Google Shape;111;p8"/>
          <p:cNvSpPr/>
          <p:nvPr/>
        </p:nvSpPr>
        <p:spPr>
          <a:xfrm>
            <a:off x="4709160" y="980000"/>
            <a:ext cx="4160520" cy="410000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8"/>
          <p:cNvSpPr/>
          <p:nvPr/>
        </p:nvSpPr>
        <p:spPr>
          <a:xfrm>
            <a:off x="4709160" y="980000"/>
            <a:ext cx="4160520" cy="457200"/>
          </a:xfrm>
          <a:prstGeom prst="rect">
            <a:avLst/>
          </a:prstGeom>
          <a:solidFill>
            <a:srgbClr val="0891B2"/>
          </a:solidFill>
          <a:ln cap="flat" cmpd="sng" w="9525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Infiltration – Portscan</a:t>
            </a:r>
            <a:endParaRPr/>
          </a:p>
        </p:txBody>
      </p:sp>
      <p:sp>
        <p:nvSpPr>
          <p:cNvPr id="113" name="Google Shape;113;p8"/>
          <p:cNvSpPr/>
          <p:nvPr/>
        </p:nvSpPr>
        <p:spPr>
          <a:xfrm>
            <a:off x="4754880" y="1480000"/>
            <a:ext cx="406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Attacker inside the network scanning internally to pivot to other systems.</a:t>
            </a:r>
            <a:endParaRPr/>
          </a:p>
        </p:txBody>
      </p:sp>
      <p:sp>
        <p:nvSpPr>
          <p:cNvPr id="114" name="Google Shape;114;p8"/>
          <p:cNvSpPr/>
          <p:nvPr/>
        </p:nvSpPr>
        <p:spPr>
          <a:xfrm>
            <a:off x="4754880" y="1800000"/>
            <a:ext cx="4068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Key Indicators</a:t>
            </a:r>
            <a:endParaRPr/>
          </a:p>
        </p:txBody>
      </p:sp>
      <p:sp>
        <p:nvSpPr>
          <p:cNvPr id="115" name="Google Shape;115;p8"/>
          <p:cNvSpPr/>
          <p:nvPr/>
        </p:nvSpPr>
        <p:spPr>
          <a:xfrm>
            <a:off x="4754880" y="2068600"/>
            <a:ext cx="4068840" cy="2743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Source IP: </a:t>
            </a:r>
            <a:r>
              <a:rPr b="1" i="0" lang="en-US" sz="95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Internal / private address range</a:t>
            </a:r>
            <a:endParaRPr/>
          </a:p>
        </p:txBody>
      </p:sp>
      <p:sp>
        <p:nvSpPr>
          <p:cNvPr id="116" name="Google Shape;116;p8"/>
          <p:cNvSpPr/>
          <p:nvPr/>
        </p:nvSpPr>
        <p:spPr>
          <a:xfrm>
            <a:off x="4754880" y="2435233"/>
            <a:ext cx="4068840" cy="2743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Flow Frequency: </a:t>
            </a:r>
            <a:r>
              <a:rPr b="1" i="0" lang="en-US" sz="95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High from same source IP</a:t>
            </a:r>
            <a:endParaRPr/>
          </a:p>
        </p:txBody>
      </p:sp>
      <p:sp>
        <p:nvSpPr>
          <p:cNvPr id="117" name="Google Shape;117;p8"/>
          <p:cNvSpPr/>
          <p:nvPr/>
        </p:nvSpPr>
        <p:spPr>
          <a:xfrm>
            <a:off x="4747051" y="2849498"/>
            <a:ext cx="4068840" cy="2743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Dst Port: </a:t>
            </a:r>
            <a:r>
              <a:rPr b="1" i="0" lang="en-US" sz="95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Multiple ports targeted rapidly</a:t>
            </a:r>
            <a:endParaRPr/>
          </a:p>
        </p:txBody>
      </p:sp>
      <p:sp>
        <p:nvSpPr>
          <p:cNvPr id="118" name="Google Shape;118;p8"/>
          <p:cNvSpPr/>
          <p:nvPr/>
        </p:nvSpPr>
        <p:spPr>
          <a:xfrm>
            <a:off x="4754880" y="3349880"/>
            <a:ext cx="4068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Dataset Features Used</a:t>
            </a:r>
            <a:endParaRPr/>
          </a:p>
        </p:txBody>
      </p:sp>
      <p:sp>
        <p:nvSpPr>
          <p:cNvPr id="119" name="Google Shape;119;p8"/>
          <p:cNvSpPr/>
          <p:nvPr/>
        </p:nvSpPr>
        <p:spPr>
          <a:xfrm>
            <a:off x="4754880" y="3624200"/>
            <a:ext cx="1235000" cy="274320"/>
          </a:xfrm>
          <a:prstGeom prst="rect">
            <a:avLst/>
          </a:prstGeom>
          <a:solidFill>
            <a:srgbClr val="E0F7FA"/>
          </a:solidFill>
          <a:ln cap="flat" cmpd="sng" w="9525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Total Packets</a:t>
            </a:r>
            <a:endParaRPr/>
          </a:p>
        </p:txBody>
      </p:sp>
      <p:sp>
        <p:nvSpPr>
          <p:cNvPr id="120" name="Google Shape;120;p8"/>
          <p:cNvSpPr/>
          <p:nvPr/>
        </p:nvSpPr>
        <p:spPr>
          <a:xfrm>
            <a:off x="6034880" y="3624200"/>
            <a:ext cx="1235000" cy="274320"/>
          </a:xfrm>
          <a:prstGeom prst="rect">
            <a:avLst/>
          </a:prstGeom>
          <a:solidFill>
            <a:srgbClr val="E0F7FA"/>
          </a:solidFill>
          <a:ln cap="flat" cmpd="sng" w="9525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Flow Duration</a:t>
            </a:r>
            <a:endParaRPr/>
          </a:p>
        </p:txBody>
      </p:sp>
      <p:sp>
        <p:nvSpPr>
          <p:cNvPr id="121" name="Google Shape;121;p8"/>
          <p:cNvSpPr/>
          <p:nvPr/>
        </p:nvSpPr>
        <p:spPr>
          <a:xfrm>
            <a:off x="7314880" y="3624200"/>
            <a:ext cx="1235000" cy="274320"/>
          </a:xfrm>
          <a:prstGeom prst="rect">
            <a:avLst/>
          </a:prstGeom>
          <a:solidFill>
            <a:srgbClr val="E0F7FA"/>
          </a:solidFill>
          <a:ln cap="flat" cmpd="sng" w="9525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Flow Frequency</a:t>
            </a:r>
            <a:endParaRPr/>
          </a:p>
        </p:txBody>
      </p:sp>
      <p:sp>
        <p:nvSpPr>
          <p:cNvPr id="122" name="Google Shape;122;p8"/>
          <p:cNvSpPr/>
          <p:nvPr/>
        </p:nvSpPr>
        <p:spPr>
          <a:xfrm>
            <a:off x="4754880" y="3944520"/>
            <a:ext cx="1235000" cy="274320"/>
          </a:xfrm>
          <a:prstGeom prst="rect">
            <a:avLst/>
          </a:prstGeom>
          <a:solidFill>
            <a:srgbClr val="E0F7FA"/>
          </a:solidFill>
          <a:ln cap="flat" cmpd="sng" w="9525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Dst Port</a:t>
            </a:r>
            <a:endParaRPr/>
          </a:p>
        </p:txBody>
      </p:sp>
      <p:sp>
        <p:nvSpPr>
          <p:cNvPr id="123" name="Google Shape;123;p8"/>
          <p:cNvSpPr/>
          <p:nvPr/>
        </p:nvSpPr>
        <p:spPr>
          <a:xfrm>
            <a:off x="6034880" y="3944520"/>
            <a:ext cx="1235000" cy="274320"/>
          </a:xfrm>
          <a:prstGeom prst="rect">
            <a:avLst/>
          </a:prstGeom>
          <a:solidFill>
            <a:srgbClr val="E0F7FA"/>
          </a:solidFill>
          <a:ln cap="flat" cmpd="sng" w="9525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Src IP Range</a:t>
            </a:r>
            <a:endParaRPr/>
          </a:p>
        </p:txBody>
      </p:sp>
      <p:sp>
        <p:nvSpPr>
          <p:cNvPr id="124" name="Google Shape;124;p8"/>
          <p:cNvSpPr/>
          <p:nvPr/>
        </p:nvSpPr>
        <p:spPr>
          <a:xfrm>
            <a:off x="274320" y="4754040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HPE CPP3  |  Week 2 Update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0" y="73152"/>
            <a:ext cx="164592" cy="507034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9"/>
          <p:cNvSpPr/>
          <p:nvPr/>
        </p:nvSpPr>
        <p:spPr>
          <a:xfrm>
            <a:off x="0" y="5143500"/>
            <a:ext cx="9144000" cy="7315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9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HPE CPP3  |  Week 2 Update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9"/>
          <p:cNvSpPr/>
          <p:nvPr/>
        </p:nvSpPr>
        <p:spPr>
          <a:xfrm>
            <a:off x="365760" y="109728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Misconfigured Label — Sub-Types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9"/>
          <p:cNvSpPr/>
          <p:nvPr/>
        </p:nvSpPr>
        <p:spPr>
          <a:xfrm>
            <a:off x="320040" y="658368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 sub-types defined for the Misconfigured label based on network behavior patterns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9"/>
          <p:cNvSpPr/>
          <p:nvPr/>
        </p:nvSpPr>
        <p:spPr>
          <a:xfrm>
            <a:off x="320040" y="1005840"/>
            <a:ext cx="4160520" cy="1627632"/>
          </a:xfrm>
          <a:prstGeom prst="rect">
            <a:avLst/>
          </a:prstGeom>
          <a:solidFill>
            <a:srgbClr val="F0FDF4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9"/>
          <p:cNvSpPr/>
          <p:nvPr/>
        </p:nvSpPr>
        <p:spPr>
          <a:xfrm>
            <a:off x="448056" y="1143000"/>
            <a:ext cx="411480" cy="411480"/>
          </a:xfrm>
          <a:prstGeom prst="ellipse">
            <a:avLst/>
          </a:prstGeom>
          <a:solidFill>
            <a:srgbClr val="16A34A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9"/>
          <p:cNvSpPr/>
          <p:nvPr/>
        </p:nvSpPr>
        <p:spPr>
          <a:xfrm>
            <a:off x="448056" y="114300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9"/>
          <p:cNvSpPr/>
          <p:nvPr/>
        </p:nvSpPr>
        <p:spPr>
          <a:xfrm>
            <a:off x="960120" y="1133856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150"/>
              <a:buFont typeface="Calibri"/>
              <a:buNone/>
            </a:pPr>
            <a:r>
              <a:rPr b="1" i="0" lang="en-US" sz="135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Dead Service / Unreachable Endpoint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9"/>
          <p:cNvSpPr/>
          <p:nvPr/>
        </p:nvSpPr>
        <p:spPr>
          <a:xfrm>
            <a:off x="484632" y="1581912"/>
            <a:ext cx="3840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Destination port is a known service port (80/443/22). Flow duration is very short with very few forward packets — server not responding.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9"/>
          <p:cNvSpPr/>
          <p:nvPr/>
        </p:nvSpPr>
        <p:spPr>
          <a:xfrm>
            <a:off x="484632" y="2267712"/>
            <a:ext cx="1234440" cy="237744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484632" y="2267712"/>
            <a:ext cx="1234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Dst Port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1783080" y="2267712"/>
            <a:ext cx="1234440" cy="237744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9"/>
          <p:cNvSpPr/>
          <p:nvPr/>
        </p:nvSpPr>
        <p:spPr>
          <a:xfrm>
            <a:off x="1783080" y="2267712"/>
            <a:ext cx="1234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Flow Duration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3081528" y="2267712"/>
            <a:ext cx="1234440" cy="237744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3081528" y="2267712"/>
            <a:ext cx="1234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Total Fwd Packets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9"/>
          <p:cNvSpPr/>
          <p:nvPr/>
        </p:nvSpPr>
        <p:spPr>
          <a:xfrm>
            <a:off x="320040" y="2834640"/>
            <a:ext cx="4160520" cy="1627632"/>
          </a:xfrm>
          <a:prstGeom prst="rect">
            <a:avLst/>
          </a:prstGeom>
          <a:solidFill>
            <a:srgbClr val="EFF9FF"/>
          </a:solidFill>
          <a:ln cap="flat" cmpd="sng" w="1905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448056" y="2971800"/>
            <a:ext cx="411480" cy="411480"/>
          </a:xfrm>
          <a:prstGeom prst="ellipse">
            <a:avLst/>
          </a:prstGeom>
          <a:solidFill>
            <a:srgbClr val="0891B2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448056" y="297180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960120" y="2962656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150"/>
              <a:buFont typeface="Calibri"/>
              <a:buNone/>
            </a:pPr>
            <a:r>
              <a:rPr b="1" i="0" lang="en-US" sz="135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TCP Handshake Failure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484632" y="3410712"/>
            <a:ext cx="3840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SYN count much higher than normal. ACK count much lower than normal. RST count elevated — connection repeatedly failing to complete.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484632" y="4096512"/>
            <a:ext cx="1234440" cy="237744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484632" y="4096512"/>
            <a:ext cx="1234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SYN Flag Count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1783080" y="4096512"/>
            <a:ext cx="1234440" cy="237744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1783080" y="4096512"/>
            <a:ext cx="1234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ACK Flag Count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3081528" y="4096512"/>
            <a:ext cx="1234440" cy="237744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3081528" y="4096512"/>
            <a:ext cx="1234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RST Flag Count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4754880" y="1005840"/>
            <a:ext cx="4160520" cy="1627632"/>
          </a:xfrm>
          <a:prstGeom prst="rect">
            <a:avLst/>
          </a:prstGeom>
          <a:solidFill>
            <a:srgbClr val="FFFBEB"/>
          </a:solidFill>
          <a:ln cap="flat" cmpd="sng" w="1905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4882896" y="1143000"/>
            <a:ext cx="411480" cy="411480"/>
          </a:xfrm>
          <a:prstGeom prst="ellipse">
            <a:avLst/>
          </a:prstGeom>
          <a:solidFill>
            <a:srgbClr val="D97706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4882896" y="114300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5394960" y="1133856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150"/>
              <a:buFont typeface="Calibri"/>
              <a:buNone/>
            </a:pPr>
            <a:r>
              <a:rPr b="1" i="0" lang="en-US" sz="135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Keep-Alive Timeout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4919472" y="1581912"/>
            <a:ext cx="3840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Flow duration much higher than average. Packets per second much lower than normal — connection held open with almost no data exchange.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4919472" y="2267712"/>
            <a:ext cx="1234440" cy="237744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4919472" y="2267712"/>
            <a:ext cx="1234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Flow Duration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6217920" y="2267712"/>
            <a:ext cx="1234440" cy="237744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6217920" y="2267712"/>
            <a:ext cx="1234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Flow Packets/s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4754880" y="2834640"/>
            <a:ext cx="4160520" cy="1627632"/>
          </a:xfrm>
          <a:prstGeom prst="rect">
            <a:avLst/>
          </a:prstGeom>
          <a:solidFill>
            <a:srgbClr val="F5F3FF"/>
          </a:solidFill>
          <a:ln cap="flat" cmpd="sng" w="1905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705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4882896" y="2971800"/>
            <a:ext cx="411480" cy="411480"/>
          </a:xfrm>
          <a:prstGeom prst="ellipse">
            <a:avLst/>
          </a:prstGeom>
          <a:solidFill>
            <a:srgbClr val="7C3AED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4882896" y="297180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5394960" y="2962656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50"/>
              <a:buFont typeface="Calibri"/>
              <a:buNone/>
            </a:pPr>
            <a:r>
              <a:rPr b="1" i="0" lang="en-US" sz="135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MTU Mismatch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4919472" y="3410712"/>
            <a:ext cx="3840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Average packet size much lower than expected for the service. High packet count relative to bytes — packets being fragmented due to MTU mismatch.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4919472" y="4096512"/>
            <a:ext cx="1234440" cy="23774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4919472" y="4096512"/>
            <a:ext cx="1234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Average Packet Size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6217920" y="4096512"/>
            <a:ext cx="1234440" cy="23774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6217920" y="4096512"/>
            <a:ext cx="1234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Total Packets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7516368" y="4096512"/>
            <a:ext cx="1234440" cy="23774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9"/>
          <p:cNvSpPr/>
          <p:nvPr/>
        </p:nvSpPr>
        <p:spPr>
          <a:xfrm>
            <a:off x="7516368" y="4096512"/>
            <a:ext cx="1234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Flow Bytes/s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0" y="5143500"/>
            <a:ext cx="9144000" cy="73152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274320" y="4846320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HPE CPP3  |  Week 2 Update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3A5F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0" y="73152"/>
            <a:ext cx="164592" cy="5078592"/>
          </a:xfrm>
          <a:prstGeom prst="rect">
            <a:avLst/>
          </a:prstGeom>
          <a:solidFill>
            <a:srgbClr val="0D9488"/>
          </a:solidFill>
          <a:ln cap="flat" cmpd="sng" w="95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0" y="5151744"/>
            <a:ext cx="9144000" cy="73152"/>
          </a:xfrm>
          <a:prstGeom prst="rect">
            <a:avLst/>
          </a:prstGeom>
          <a:solidFill>
            <a:srgbClr val="0D9488"/>
          </a:solidFill>
          <a:ln cap="flat" cmpd="sng" w="95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274320" y="120000"/>
            <a:ext cx="8595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Attack-Like — Flow Behavior Indicators</a:t>
            </a:r>
            <a:endParaRPr/>
          </a:p>
        </p:txBody>
      </p:sp>
      <p:sp>
        <p:nvSpPr>
          <p:cNvPr id="189" name="Google Shape;189;p10"/>
          <p:cNvSpPr/>
          <p:nvPr/>
        </p:nvSpPr>
        <p:spPr>
          <a:xfrm>
            <a:off x="274320" y="685800"/>
            <a:ext cx="8595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 attack groups from CICIDS dataset with key flow behavior indicators for ML label training</a:t>
            </a:r>
            <a:endParaRPr/>
          </a:p>
        </p:txBody>
      </p:sp>
      <p:sp>
        <p:nvSpPr>
          <p:cNvPr id="190" name="Google Shape;190;p10"/>
          <p:cNvSpPr/>
          <p:nvPr/>
        </p:nvSpPr>
        <p:spPr>
          <a:xfrm>
            <a:off x="274320" y="980000"/>
            <a:ext cx="8595360" cy="68580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274320" y="980000"/>
            <a:ext cx="73152" cy="685800"/>
          </a:xfrm>
          <a:prstGeom prst="rect">
            <a:avLst/>
          </a:prstGeom>
          <a:solidFill>
            <a:srgbClr val="1E3A5F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8277120" y="1006000"/>
            <a:ext cx="594000" cy="228600"/>
          </a:xfrm>
          <a:prstGeom prst="rect">
            <a:avLst/>
          </a:prstGeom>
          <a:solidFill>
            <a:srgbClr val="1E3A5F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Port 21/22</a:t>
            </a:r>
            <a:endParaRPr/>
          </a:p>
        </p:txBody>
      </p:sp>
      <p:sp>
        <p:nvSpPr>
          <p:cNvPr id="193" name="Google Shape;193;p10"/>
          <p:cNvSpPr/>
          <p:nvPr/>
        </p:nvSpPr>
        <p:spPr>
          <a:xfrm>
            <a:off x="374904" y="990000"/>
            <a:ext cx="786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FTP &amp; SSH Brute Force  </a:t>
            </a: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40–200 packets  •  Long duration (10–300s)  •  Low packet rate  •  High ACK count  •  Balanced Fwd/Bwd</a:t>
            </a:r>
            <a:endParaRPr/>
          </a:p>
        </p:txBody>
      </p:sp>
      <p:sp>
        <p:nvSpPr>
          <p:cNvPr id="194" name="Google Shape;194;p10"/>
          <p:cNvSpPr/>
          <p:nvPr/>
        </p:nvSpPr>
        <p:spPr>
          <a:xfrm>
            <a:off x="274320" y="1712000"/>
            <a:ext cx="8595360" cy="68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274320" y="1712000"/>
            <a:ext cx="73152" cy="685800"/>
          </a:xfrm>
          <a:prstGeom prst="rect">
            <a:avLst/>
          </a:prstGeom>
          <a:solidFill>
            <a:srgbClr val="0D9488"/>
          </a:solidFill>
          <a:ln cap="flat" cmpd="sng" w="95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8277120" y="1738000"/>
            <a:ext cx="594000" cy="228600"/>
          </a:xfrm>
          <a:prstGeom prst="rect">
            <a:avLst/>
          </a:prstGeom>
          <a:solidFill>
            <a:srgbClr val="0D9488"/>
          </a:solidFill>
          <a:ln cap="flat" cmpd="sng" w="95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Port 80/443</a:t>
            </a:r>
            <a:endParaRPr/>
          </a:p>
        </p:txBody>
      </p:sp>
      <p:sp>
        <p:nvSpPr>
          <p:cNvPr id="197" name="Google Shape;197;p10"/>
          <p:cNvSpPr/>
          <p:nvPr/>
        </p:nvSpPr>
        <p:spPr>
          <a:xfrm>
            <a:off x="374904" y="1722000"/>
            <a:ext cx="786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DoS / DDoS  </a:t>
            </a: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Extremely high packet rate (1K–200K pkt/s)  •  Very short flows  •  High bytes/s  •  Hulk / GoldenEye / Slowloris / SlowHTTPTest / DDoS</a:t>
            </a:r>
            <a:endParaRPr/>
          </a:p>
        </p:txBody>
      </p:sp>
      <p:sp>
        <p:nvSpPr>
          <p:cNvPr id="198" name="Google Shape;198;p10"/>
          <p:cNvSpPr/>
          <p:nvPr/>
        </p:nvSpPr>
        <p:spPr>
          <a:xfrm>
            <a:off x="274320" y="2444000"/>
            <a:ext cx="8595360" cy="68580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274320" y="2444000"/>
            <a:ext cx="73152" cy="685800"/>
          </a:xfrm>
          <a:prstGeom prst="rect">
            <a:avLst/>
          </a:prstGeom>
          <a:solidFill>
            <a:srgbClr val="1E3A5F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8277120" y="2470000"/>
            <a:ext cx="594000" cy="228600"/>
          </a:xfrm>
          <a:prstGeom prst="rect">
            <a:avLst/>
          </a:prstGeom>
          <a:solidFill>
            <a:srgbClr val="1E3A5F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Port 80/443</a:t>
            </a:r>
            <a:endParaRPr/>
          </a:p>
        </p:txBody>
      </p:sp>
      <p:sp>
        <p:nvSpPr>
          <p:cNvPr id="201" name="Google Shape;201;p10"/>
          <p:cNvSpPr/>
          <p:nvPr/>
        </p:nvSpPr>
        <p:spPr>
          <a:xfrm>
            <a:off x="374904" y="2454000"/>
            <a:ext cx="786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Web Attack  </a:t>
            </a: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5–20 packets  •  Short sessions (1–10s)  •  Balanced Fwd/Bwd  •  Brute Force / XSS / SQL Injection</a:t>
            </a:r>
            <a:endParaRPr/>
          </a:p>
        </p:txBody>
      </p:sp>
      <p:sp>
        <p:nvSpPr>
          <p:cNvPr id="202" name="Google Shape;202;p10"/>
          <p:cNvSpPr/>
          <p:nvPr/>
        </p:nvSpPr>
        <p:spPr>
          <a:xfrm>
            <a:off x="274320" y="3176000"/>
            <a:ext cx="8595360" cy="685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274320" y="3176000"/>
            <a:ext cx="73152" cy="685800"/>
          </a:xfrm>
          <a:prstGeom prst="rect">
            <a:avLst/>
          </a:prstGeom>
          <a:solidFill>
            <a:srgbClr val="0D9488"/>
          </a:solidFill>
          <a:ln cap="flat" cmpd="sng" w="95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8277120" y="3202000"/>
            <a:ext cx="594000" cy="228600"/>
          </a:xfrm>
          <a:prstGeom prst="rect">
            <a:avLst/>
          </a:prstGeom>
          <a:solidFill>
            <a:srgbClr val="0D9488"/>
          </a:solidFill>
          <a:ln cap="flat" cmpd="sng" w="9525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Variable</a:t>
            </a:r>
            <a:endParaRPr/>
          </a:p>
        </p:txBody>
      </p:sp>
      <p:sp>
        <p:nvSpPr>
          <p:cNvPr id="205" name="Google Shape;205;p10"/>
          <p:cNvSpPr/>
          <p:nvPr/>
        </p:nvSpPr>
        <p:spPr>
          <a:xfrm>
            <a:off x="374904" y="3186000"/>
            <a:ext cx="786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Botnet  </a:t>
            </a: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2–20 packets  •  Very long duration  •  Low packet rate (&lt;5 pkt/s)  •  Periodic C2 communication  •  Small heartbeat packets</a:t>
            </a:r>
            <a:endParaRPr/>
          </a:p>
        </p:txBody>
      </p:sp>
      <p:sp>
        <p:nvSpPr>
          <p:cNvPr id="206" name="Google Shape;206;p10"/>
          <p:cNvSpPr/>
          <p:nvPr/>
        </p:nvSpPr>
        <p:spPr>
          <a:xfrm>
            <a:off x="274320" y="3908000"/>
            <a:ext cx="8595360" cy="68580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274320" y="3908000"/>
            <a:ext cx="73152" cy="685800"/>
          </a:xfrm>
          <a:prstGeom prst="rect">
            <a:avLst/>
          </a:prstGeom>
          <a:solidFill>
            <a:srgbClr val="1E3A5F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8277120" y="3934000"/>
            <a:ext cx="594000" cy="228600"/>
          </a:xfrm>
          <a:prstGeom prst="rect">
            <a:avLst/>
          </a:prstGeom>
          <a:solidFill>
            <a:srgbClr val="1E3A5F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Variable</a:t>
            </a:r>
            <a:endParaRPr/>
          </a:p>
        </p:txBody>
      </p:sp>
      <p:sp>
        <p:nvSpPr>
          <p:cNvPr id="209" name="Google Shape;209;p10"/>
          <p:cNvSpPr/>
          <p:nvPr/>
        </p:nvSpPr>
        <p:spPr>
          <a:xfrm>
            <a:off x="374904" y="3918000"/>
            <a:ext cx="78600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Infiltration &amp; Heartbleed  </a:t>
            </a: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5–50 packets  •  Long sessions  •  Irregular Fwd/Bwd ratio  •  Large payload  •  Variable destination ports</a:t>
            </a:r>
            <a:endParaRPr/>
          </a:p>
        </p:txBody>
      </p:sp>
      <p:sp>
        <p:nvSpPr>
          <p:cNvPr id="210" name="Google Shape;210;p10"/>
          <p:cNvSpPr/>
          <p:nvPr/>
        </p:nvSpPr>
        <p:spPr>
          <a:xfrm>
            <a:off x="274320" y="4754040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HPE CPP3  |  Week 2 Update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