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5e10be4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d5e10be40a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d5e10be40a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5e10be40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d5e10be40a_0_2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d5e10be40a_0_2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e10be40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d5e10be40a_0_4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d5e10be40a_0_4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e10be40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d5e10be40a_0_5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5e10be40a_0_5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037EDA0-B19D-D374-5DDB-2644400F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e10be40a_0_58:notes">
            <a:extLst>
              <a:ext uri="{FF2B5EF4-FFF2-40B4-BE49-F238E27FC236}">
                <a16:creationId xmlns:a16="http://schemas.microsoft.com/office/drawing/2014/main" id="{55FB4513-8CC3-3959-91B4-9164FEA63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d5e10be40a_0_58:notes">
            <a:extLst>
              <a:ext uri="{FF2B5EF4-FFF2-40B4-BE49-F238E27FC236}">
                <a16:creationId xmlns:a16="http://schemas.microsoft.com/office/drawing/2014/main" id="{0AEFD786-853D-FD3B-1F5B-5AAA8861C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5e10be40a_0_58:notes">
            <a:extLst>
              <a:ext uri="{FF2B5EF4-FFF2-40B4-BE49-F238E27FC236}">
                <a16:creationId xmlns:a16="http://schemas.microsoft.com/office/drawing/2014/main" id="{0D0EE431-7159-67A2-FACC-5CBC8C60BE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985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C283D27-B9A1-EE61-BD1D-279B798E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e10be40a_0_58:notes">
            <a:extLst>
              <a:ext uri="{FF2B5EF4-FFF2-40B4-BE49-F238E27FC236}">
                <a16:creationId xmlns:a16="http://schemas.microsoft.com/office/drawing/2014/main" id="{2CC4D778-D403-8A3C-B060-AD67C2DE7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d5e10be40a_0_58:notes">
            <a:extLst>
              <a:ext uri="{FF2B5EF4-FFF2-40B4-BE49-F238E27FC236}">
                <a16:creationId xmlns:a16="http://schemas.microsoft.com/office/drawing/2014/main" id="{A88B7D95-74E5-2504-AF7E-FE9590F3C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5e10be40a_0_58:notes">
            <a:extLst>
              <a:ext uri="{FF2B5EF4-FFF2-40B4-BE49-F238E27FC236}">
                <a16:creationId xmlns:a16="http://schemas.microsoft.com/office/drawing/2014/main" id="{7AB7D911-1F0D-EF54-A107-61292D69D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57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141760A-B440-C54B-2BDE-5C99D633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e10be40a_0_58:notes">
            <a:extLst>
              <a:ext uri="{FF2B5EF4-FFF2-40B4-BE49-F238E27FC236}">
                <a16:creationId xmlns:a16="http://schemas.microsoft.com/office/drawing/2014/main" id="{68C7BDDA-FA15-A60B-530E-0F9915201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d5e10be40a_0_58:notes">
            <a:extLst>
              <a:ext uri="{FF2B5EF4-FFF2-40B4-BE49-F238E27FC236}">
                <a16:creationId xmlns:a16="http://schemas.microsoft.com/office/drawing/2014/main" id="{1FA6F18B-9279-B327-46AD-BD3FA9E81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5e10be40a_0_58:notes">
            <a:extLst>
              <a:ext uri="{FF2B5EF4-FFF2-40B4-BE49-F238E27FC236}">
                <a16:creationId xmlns:a16="http://schemas.microsoft.com/office/drawing/2014/main" id="{5426488E-B73E-BD8F-C1A7-1EFF227423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326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457200" y="548640"/>
            <a:ext cx="5669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800"/>
              <a:buFont typeface="Calibri"/>
              <a:buNone/>
            </a:pPr>
            <a:r>
              <a:rPr lang="en-IN" sz="3800" b="1" i="0" u="none" strike="noStrike" cap="none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800"/>
              <a:buFont typeface="Calibri"/>
              <a:buNone/>
            </a:pPr>
            <a:r>
              <a:rPr lang="en-IN" sz="3800" b="1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Profiling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D9488"/>
              </a:buClr>
              <a:buSzPts val="1800"/>
            </a:pPr>
            <a:r>
              <a:rPr lang="en-GB" sz="1800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Cross-Platform &amp; Linux </a:t>
            </a:r>
            <a:r>
              <a:rPr lang="en-GB" sz="2000" dirty="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Integration </a:t>
            </a:r>
            <a:endParaRPr sz="2000" dirty="0">
              <a:solidFill>
                <a:srgbClr val="00A9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28803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lang="en-GB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Progress Update</a:t>
            </a:r>
            <a:endParaRPr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492240" y="1005840"/>
            <a:ext cx="2469000" cy="2926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629400" y="1188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629400" y="142646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629400" y="184708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629400" y="2084832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629400" y="2505456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629400" y="27432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629400" y="3163824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629400" y="34015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26358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457200" y="225618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lang="en-GB" sz="22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Challenge &amp; Strategy</a:t>
            </a:r>
            <a:endParaRPr sz="3800" b="1" dirty="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83306-9381-8682-ACAA-1416F71AF8DA}"/>
              </a:ext>
            </a:extLst>
          </p:cNvPr>
          <p:cNvSpPr txBox="1"/>
          <p:nvPr/>
        </p:nvSpPr>
        <p:spPr>
          <a:xfrm>
            <a:off x="457199" y="944137"/>
            <a:ext cx="8010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Transitioning from a Windows-only environment to a Linux based backend while maintaining a single, unified codebase.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845E8-46F4-95E5-C663-849C2B9D0ABA}"/>
              </a:ext>
            </a:extLst>
          </p:cNvPr>
          <p:cNvSpPr txBox="1"/>
          <p:nvPr/>
        </p:nvSpPr>
        <p:spPr>
          <a:xfrm>
            <a:off x="457199" y="2571750"/>
            <a:ext cx="80102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Strategy: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decoupled the OS-dependent code from the main Flask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now detects the host environment at runtime.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 windows_sniffer.py and linux_sniffer.py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module loading via services/__init_.py.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57200" y="225618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B2A4A"/>
              </a:buClr>
              <a:buSzPts val="2200"/>
            </a:pPr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Linux Integrations</a:t>
            </a:r>
            <a:endParaRPr sz="2200" b="1" dirty="0">
              <a:solidFill>
                <a:srgbClr val="1B2A4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940D7-9406-0130-216F-4A2193324529}"/>
              </a:ext>
            </a:extLst>
          </p:cNvPr>
          <p:cNvSpPr txBox="1"/>
          <p:nvPr/>
        </p:nvSpPr>
        <p:spPr>
          <a:xfrm>
            <a:off x="448200" y="947564"/>
            <a:ext cx="69041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Hook</a:t>
            </a:r>
          </a:p>
          <a:p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libpcap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tcpdump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libraries to allow direct communication with Ubuntu network stacks.</a:t>
            </a:r>
            <a:endParaRPr lang="en-IN" sz="1800" b="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br>
              <a:rPr lang="en-IN" sz="1800" b="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800" b="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sz="18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Permissions</a:t>
            </a:r>
          </a:p>
          <a:p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Linux Capabilities (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setcap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allow raw packet sniffing without requiring full root/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access.</a:t>
            </a:r>
          </a:p>
          <a:p>
            <a:pPr rtl="0">
              <a:buNone/>
            </a:pPr>
            <a:endParaRPr lang="en-IN" sz="1800" b="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sz="1800" b="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sz="1800" b="1" i="0" u="none" strike="noStrike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 Discovery</a:t>
            </a:r>
          </a:p>
          <a:p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Utilized 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psutil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cross-platform NIC discovery, providing clean names like eth0 or wlan0 to the UI.</a:t>
            </a:r>
          </a:p>
          <a:p>
            <a:pPr rtl="0">
              <a:buNone/>
            </a:pPr>
            <a:endParaRPr lang="en-IN" sz="18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57200" y="225625"/>
            <a:ext cx="8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lang="en-GB" sz="22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Process Lifecycle &amp; Engine Optimization</a:t>
            </a:r>
            <a:endParaRPr sz="2200" b="1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92309-B72F-71EF-D504-9BE9E8822EBE}"/>
              </a:ext>
            </a:extLst>
          </p:cNvPr>
          <p:cNvSpPr txBox="1"/>
          <p:nvPr/>
        </p:nvSpPr>
        <p:spPr>
          <a:xfrm>
            <a:off x="653045" y="1439238"/>
            <a:ext cx="3631580" cy="28931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IN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Process Termination</a:t>
            </a: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terminate() calls often left "zombie" sniffer processes active on Linux, locking the network interface.</a:t>
            </a: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IN" b="1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Group IDs (PGID)</a:t>
            </a: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Native </a:t>
            </a:r>
            <a:r>
              <a:rPr lang="en-IN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os.killpg</a:t>
            </a: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signaling</a:t>
            </a: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graceful shutdowns.</a:t>
            </a: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Prevents memory leaks and interface locking.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endParaRPr lang="en-IN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E609E-CF39-4706-EEAD-CE22DAB1D944}"/>
              </a:ext>
            </a:extLst>
          </p:cNvPr>
          <p:cNvSpPr txBox="1"/>
          <p:nvPr/>
        </p:nvSpPr>
        <p:spPr>
          <a:xfrm>
            <a:off x="4771393" y="1439238"/>
            <a:ext cx="3631580" cy="28931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 Optimization</a:t>
            </a: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Gevent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Replaced the standard Flask server with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gevent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handle native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WebSockets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Linux.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Zero-Latency Yielding: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Integrated the CPU to switch between the file watcher and the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SocketIO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stream instantly.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Guarding: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Wrapped async calls in try/except blocks to ensure Windows users aren't affected by Linux-specific libraries.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>
          <a:extLst>
            <a:ext uri="{FF2B5EF4-FFF2-40B4-BE49-F238E27FC236}">
              <a16:creationId xmlns:a16="http://schemas.microsoft.com/office/drawing/2014/main" id="{A9313AC6-300F-E35F-E090-FD9AADEA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>
            <a:extLst>
              <a:ext uri="{FF2B5EF4-FFF2-40B4-BE49-F238E27FC236}">
                <a16:creationId xmlns:a16="http://schemas.microsoft.com/office/drawing/2014/main" id="{33EA5FC4-98A1-462A-357D-EB6234A3D94F}"/>
              </a:ext>
            </a:extLst>
          </p:cNvPr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AF6ADF13-E079-D2A4-CDA0-6197C7807A51}"/>
              </a:ext>
            </a:extLst>
          </p:cNvPr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>
            <a:extLst>
              <a:ext uri="{FF2B5EF4-FFF2-40B4-BE49-F238E27FC236}">
                <a16:creationId xmlns:a16="http://schemas.microsoft.com/office/drawing/2014/main" id="{5ADCB667-25C8-6CF4-36EB-F00DE5840FCB}"/>
              </a:ext>
            </a:extLst>
          </p:cNvPr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3B7AF516-F479-D1D3-724B-08ACF250BE80}"/>
              </a:ext>
            </a:extLst>
          </p:cNvPr>
          <p:cNvSpPr/>
          <p:nvPr/>
        </p:nvSpPr>
        <p:spPr>
          <a:xfrm>
            <a:off x="457200" y="225625"/>
            <a:ext cx="8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lang="en-GB" sz="22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Multi-platform Tech Stack</a:t>
            </a:r>
            <a:endParaRPr sz="2200" b="1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4C98F0AD-8501-5522-3315-F72B6E798A6C}"/>
              </a:ext>
            </a:extLst>
          </p:cNvPr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>
            <a:extLst>
              <a:ext uri="{FF2B5EF4-FFF2-40B4-BE49-F238E27FC236}">
                <a16:creationId xmlns:a16="http://schemas.microsoft.com/office/drawing/2014/main" id="{AC0C3841-2DAB-E4C7-3490-612520CCA0B6}"/>
              </a:ext>
            </a:extLst>
          </p:cNvPr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4C98CE-81A7-34F9-F506-74C982587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67533"/>
              </p:ext>
            </p:extLst>
          </p:nvPr>
        </p:nvGraphicFramePr>
        <p:xfrm>
          <a:off x="593648" y="1539906"/>
          <a:ext cx="8040300" cy="224437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39815">
                  <a:extLst>
                    <a:ext uri="{9D8B030D-6E8A-4147-A177-3AD203B41FA5}">
                      <a16:colId xmlns:a16="http://schemas.microsoft.com/office/drawing/2014/main" val="1014946486"/>
                    </a:ext>
                  </a:extLst>
                </a:gridCol>
                <a:gridCol w="2841830">
                  <a:extLst>
                    <a:ext uri="{9D8B030D-6E8A-4147-A177-3AD203B41FA5}">
                      <a16:colId xmlns:a16="http://schemas.microsoft.com/office/drawing/2014/main" val="3472206698"/>
                    </a:ext>
                  </a:extLst>
                </a:gridCol>
                <a:gridCol w="2758655">
                  <a:extLst>
                    <a:ext uri="{9D8B030D-6E8A-4147-A177-3AD203B41FA5}">
                      <a16:colId xmlns:a16="http://schemas.microsoft.com/office/drawing/2014/main" val="2767164653"/>
                    </a:ext>
                  </a:extLst>
                </a:gridCol>
              </a:tblGrid>
              <a:tr h="4407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Component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Windows Engine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Linux Engine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extLst>
                  <a:ext uri="{0D108BD9-81ED-4DB2-BD59-A6C34878D82A}">
                    <a16:rowId xmlns:a16="http://schemas.microsoft.com/office/drawing/2014/main" val="2386337320"/>
                  </a:ext>
                </a:extLst>
              </a:tr>
              <a:tr h="4407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Capture Driver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Npcap</a:t>
                      </a:r>
                      <a:r>
                        <a:rPr lang="en-IN" sz="1400" b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 / </a:t>
                      </a:r>
                      <a:r>
                        <a:rPr lang="en-IN" sz="1400" b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WinPcap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libpcap-dev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extLst>
                  <a:ext uri="{0D108BD9-81ED-4DB2-BD59-A6C34878D82A}">
                    <a16:rowId xmlns:a16="http://schemas.microsoft.com/office/drawing/2014/main" val="2076912777"/>
                  </a:ext>
                </a:extLst>
              </a:tr>
              <a:tr h="4407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Async Kernel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Standard Threading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Gevent / Greenlets</a:t>
                      </a:r>
                      <a:endParaRPr lang="en-IN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extLst>
                  <a:ext uri="{0D108BD9-81ED-4DB2-BD59-A6C34878D82A}">
                    <a16:rowId xmlns:a16="http://schemas.microsoft.com/office/drawing/2014/main" val="979218490"/>
                  </a:ext>
                </a:extLst>
              </a:tr>
              <a:tr h="4407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Process Control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.terminate()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b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os.killpg</a:t>
                      </a:r>
                      <a:r>
                        <a:rPr lang="en-IN" sz="1400" b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 (POSIX)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extLst>
                  <a:ext uri="{0D108BD9-81ED-4DB2-BD59-A6C34878D82A}">
                    <a16:rowId xmlns:a16="http://schemas.microsoft.com/office/drawing/2014/main" val="1829321042"/>
                  </a:ext>
                </a:extLst>
              </a:tr>
              <a:tr h="48126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Testing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Windows PC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Oracle VirtualBox (Ubuntu)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24" marR="51424" marT="22039" marB="22039" anchor="ctr"/>
                </a:tc>
                <a:extLst>
                  <a:ext uri="{0D108BD9-81ED-4DB2-BD59-A6C34878D82A}">
                    <a16:rowId xmlns:a16="http://schemas.microsoft.com/office/drawing/2014/main" val="63692268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4062C6E-53F9-415C-B520-5B8B3A76E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979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40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>
          <a:extLst>
            <a:ext uri="{FF2B5EF4-FFF2-40B4-BE49-F238E27FC236}">
              <a16:creationId xmlns:a16="http://schemas.microsoft.com/office/drawing/2014/main" id="{EF20F524-789D-AC8D-7BAA-0C1483CA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>
            <a:extLst>
              <a:ext uri="{FF2B5EF4-FFF2-40B4-BE49-F238E27FC236}">
                <a16:creationId xmlns:a16="http://schemas.microsoft.com/office/drawing/2014/main" id="{0156FE67-22DE-4BBF-1FEC-751A322721E0}"/>
              </a:ext>
            </a:extLst>
          </p:cNvPr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4C81EE89-4C27-745E-F261-118A4C9A693C}"/>
              </a:ext>
            </a:extLst>
          </p:cNvPr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>
            <a:extLst>
              <a:ext uri="{FF2B5EF4-FFF2-40B4-BE49-F238E27FC236}">
                <a16:creationId xmlns:a16="http://schemas.microsoft.com/office/drawing/2014/main" id="{AE15E0A7-DBA0-34D5-0A8D-FBC8C508D660}"/>
              </a:ext>
            </a:extLst>
          </p:cNvPr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3057B251-94A2-41A8-F623-CEC712557299}"/>
              </a:ext>
            </a:extLst>
          </p:cNvPr>
          <p:cNvSpPr/>
          <p:nvPr/>
        </p:nvSpPr>
        <p:spPr>
          <a:xfrm>
            <a:off x="457200" y="225625"/>
            <a:ext cx="8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lang="en-GB" sz="22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Linux (Ubuntu)</a:t>
            </a:r>
            <a:endParaRPr sz="2200" b="1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63D217BF-1EE8-5CC9-3DD2-C0C42D657959}"/>
              </a:ext>
            </a:extLst>
          </p:cNvPr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>
            <a:extLst>
              <a:ext uri="{FF2B5EF4-FFF2-40B4-BE49-F238E27FC236}">
                <a16:creationId xmlns:a16="http://schemas.microsoft.com/office/drawing/2014/main" id="{AD4566AA-8303-218C-6E47-DBB81F6FE6B1}"/>
              </a:ext>
            </a:extLst>
          </p:cNvPr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E4AC7-2E9B-8E66-7302-1BAEDF08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64" b="-1"/>
          <a:stretch>
            <a:fillRect/>
          </a:stretch>
        </p:blipFill>
        <p:spPr>
          <a:xfrm>
            <a:off x="1219335" y="752777"/>
            <a:ext cx="6516029" cy="41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>
          <a:extLst>
            <a:ext uri="{FF2B5EF4-FFF2-40B4-BE49-F238E27FC236}">
              <a16:creationId xmlns:a16="http://schemas.microsoft.com/office/drawing/2014/main" id="{11368C66-8C3F-26BD-67DE-44950F92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>
            <a:extLst>
              <a:ext uri="{FF2B5EF4-FFF2-40B4-BE49-F238E27FC236}">
                <a16:creationId xmlns:a16="http://schemas.microsoft.com/office/drawing/2014/main" id="{6969934E-72A2-DFB1-8312-D52B1CD04B7A}"/>
              </a:ext>
            </a:extLst>
          </p:cNvPr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72A37C63-69BC-9478-EA31-54CF57840566}"/>
              </a:ext>
            </a:extLst>
          </p:cNvPr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>
            <a:extLst>
              <a:ext uri="{FF2B5EF4-FFF2-40B4-BE49-F238E27FC236}">
                <a16:creationId xmlns:a16="http://schemas.microsoft.com/office/drawing/2014/main" id="{1CB00B43-F824-1401-23EF-83B630B52C8C}"/>
              </a:ext>
            </a:extLst>
          </p:cNvPr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800B1B29-A46E-B595-BCBB-88F915A274AF}"/>
              </a:ext>
            </a:extLst>
          </p:cNvPr>
          <p:cNvSpPr/>
          <p:nvPr/>
        </p:nvSpPr>
        <p:spPr>
          <a:xfrm>
            <a:off x="457200" y="225625"/>
            <a:ext cx="8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lang="en-GB" sz="2200" b="1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Windows OS</a:t>
            </a:r>
            <a:endParaRPr sz="2200" b="1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8E557AA4-50C5-5E7E-9DEE-95560AA0D866}"/>
              </a:ext>
            </a:extLst>
          </p:cNvPr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>
              <a:buClr>
                <a:srgbClr val="64748B"/>
              </a:buClr>
              <a:buSzPts val="1000"/>
            </a:pP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</a:t>
            </a:r>
            <a:r>
              <a:rPr lang="en-GB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</a:t>
            </a:r>
            <a:r>
              <a:rPr lang="en-GB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>
            <a:extLst>
              <a:ext uri="{FF2B5EF4-FFF2-40B4-BE49-F238E27FC236}">
                <a16:creationId xmlns:a16="http://schemas.microsoft.com/office/drawing/2014/main" id="{9390465F-D8C9-A13F-7366-6E0CE6CD1600}"/>
              </a:ext>
            </a:extLst>
          </p:cNvPr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7FBB7-CF96-44AF-4B77-3DCB838C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5" t="14397" r="5772" b="6367"/>
          <a:stretch>
            <a:fillRect/>
          </a:stretch>
        </p:blipFill>
        <p:spPr>
          <a:xfrm>
            <a:off x="684212" y="875151"/>
            <a:ext cx="7813288" cy="387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055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Week6_Update_HPE_CPP3</Template>
  <TotalTime>179</TotalTime>
  <Words>356</Words>
  <Application>Microsoft Office PowerPoint</Application>
  <PresentationFormat>On-screen Show (16:9)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Lakshya Gupta</dc:creator>
  <cp:lastModifiedBy>Lakshya Gupta</cp:lastModifiedBy>
  <cp:revision>3</cp:revision>
  <dcterms:created xsi:type="dcterms:W3CDTF">2026-06-01T10:33:20Z</dcterms:created>
  <dcterms:modified xsi:type="dcterms:W3CDTF">2026-06-01T13:32:23Z</dcterms:modified>
</cp:coreProperties>
</file>